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67" r:id="rId5"/>
    <p:sldId id="259" r:id="rId6"/>
    <p:sldId id="260" r:id="rId7"/>
    <p:sldId id="262" r:id="rId8"/>
    <p:sldId id="268" r:id="rId9"/>
    <p:sldId id="269" r:id="rId10"/>
    <p:sldId id="265" r:id="rId11"/>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0" autoAdjust="0"/>
    <p:restoredTop sz="94660"/>
  </p:normalViewPr>
  <p:slideViewPr>
    <p:cSldViewPr snapToGrid="0">
      <p:cViewPr varScale="1">
        <p:scale>
          <a:sx n="78" d="100"/>
          <a:sy n="78" d="100"/>
        </p:scale>
        <p:origin x="806" y="72"/>
      </p:cViewPr>
      <p:guideLst/>
    </p:cSldViewPr>
  </p:slideViewPr>
  <p:notesTextViewPr>
    <p:cViewPr>
      <p:scale>
        <a:sx n="1" d="1"/>
        <a:sy n="1" d="1"/>
      </p:scale>
      <p:origin x="0" y="0"/>
    </p:cViewPr>
  </p:notesText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E309023-AF2B-4043-B228-F191CADC9BB1}" type="datetimeFigureOut">
              <a:rPr lang="en-IN" smtClean="0"/>
              <a:t>31-03-2021</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5354517F-9C19-4E9A-AB98-AA89BD9F1D1D}" type="slidenum">
              <a:rPr lang="en-IN" smtClean="0"/>
              <a:t>‹#›</a:t>
            </a:fld>
            <a:endParaRPr lang="en-IN"/>
          </a:p>
        </p:txBody>
      </p:sp>
    </p:spTree>
    <p:extLst>
      <p:ext uri="{BB962C8B-B14F-4D97-AF65-F5344CB8AC3E}">
        <p14:creationId xmlns:p14="http://schemas.microsoft.com/office/powerpoint/2010/main" val="2867562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C018FE-C8D6-4A9C-A702-41F1E0C1C452}" type="datetimeFigureOut">
              <a:rPr lang="en-IN" smtClean="0"/>
              <a:t>31-03-2021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1446675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36469" y="640080"/>
            <a:ext cx="9313817" cy="856138"/>
          </a:xfrm>
        </p:spPr>
        <p:txBody>
          <a:bodyPr/>
          <a:lstStyle>
            <a:lvl1pPr>
              <a:defRPr sz="4000"/>
            </a:lvl1pPr>
          </a:lstStyle>
          <a:p>
            <a:r>
              <a:rPr lang="en-US" dirty="0"/>
              <a:t>CLICK TO EDIT MASTER TITLE STYLE</a:t>
            </a:r>
          </a:p>
        </p:txBody>
      </p:sp>
      <p:sp>
        <p:nvSpPr>
          <p:cNvPr id="3" name="Content Placeholder 2"/>
          <p:cNvSpPr>
            <a:spLocks noGrp="1"/>
          </p:cNvSpPr>
          <p:nvPr>
            <p:ph idx="1"/>
          </p:nvPr>
        </p:nvSpPr>
        <p:spPr>
          <a:xfrm>
            <a:off x="404949" y="1854926"/>
            <a:ext cx="11168742" cy="434426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IN"/>
              <a:t>09-06-2016</a:t>
            </a:r>
            <a:endParaRPr lang="en-IN" dirty="0"/>
          </a:p>
        </p:txBody>
      </p:sp>
      <p:sp>
        <p:nvSpPr>
          <p:cNvPr id="5" name="Footer Placeholder 4"/>
          <p:cNvSpPr>
            <a:spLocks noGrp="1"/>
          </p:cNvSpPr>
          <p:nvPr>
            <p:ph type="ftr" sz="quarter" idx="11"/>
          </p:nvPr>
        </p:nvSpPr>
        <p:spPr/>
        <p:txBody>
          <a:bodyPr/>
          <a:lstStyle/>
          <a:p>
            <a:r>
              <a:rPr lang="en-IN"/>
              <a:t>Investment Case Study</a:t>
            </a:r>
            <a:endParaRPr lang="en-IN" dirty="0"/>
          </a:p>
        </p:txBody>
      </p:sp>
      <p:sp>
        <p:nvSpPr>
          <p:cNvPr id="6" name="Slide Number Placeholder 5"/>
          <p:cNvSpPr>
            <a:spLocks noGrp="1"/>
          </p:cNvSpPr>
          <p:nvPr>
            <p:ph type="sldNum" sz="quarter" idx="12"/>
          </p:nvPr>
        </p:nvSpPr>
        <p:spPr/>
        <p:txBody>
          <a:bodyPr/>
          <a:lstStyle/>
          <a:p>
            <a:r>
              <a:rPr lang="en-IN"/>
              <a:t>1</a:t>
            </a:r>
            <a:endParaRPr lang="en-IN" dirty="0"/>
          </a:p>
        </p:txBody>
      </p:sp>
    </p:spTree>
    <p:extLst>
      <p:ext uri="{BB962C8B-B14F-4D97-AF65-F5344CB8AC3E}">
        <p14:creationId xmlns:p14="http://schemas.microsoft.com/office/powerpoint/2010/main" val="1375848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0C018FE-C8D6-4A9C-A702-41F1E0C1C452}" type="datetimeFigureOut">
              <a:rPr lang="en-IN" smtClean="0"/>
              <a:t>31-03-2021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3420441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C018FE-C8D6-4A9C-A702-41F1E0C1C452}" type="datetimeFigureOut">
              <a:rPr lang="en-IN" smtClean="0"/>
              <a:t>31-03-2021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3026578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C018FE-C8D6-4A9C-A702-41F1E0C1C452}" type="datetimeFigureOut">
              <a:rPr lang="en-IN" smtClean="0"/>
              <a:t>31-03-2021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3845587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C018FE-C8D6-4A9C-A702-41F1E0C1C452}" type="datetimeFigureOut">
              <a:rPr lang="en-IN" smtClean="0"/>
              <a:t>31-03-2021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2173476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C018FE-C8D6-4A9C-A702-41F1E0C1C452}" type="datetimeFigureOut">
              <a:rPr lang="en-IN" smtClean="0"/>
              <a:t>31-03-2021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1279458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8200" y="987424"/>
            <a:ext cx="3933825" cy="1069975"/>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72891" y="987425"/>
            <a:ext cx="6182497" cy="48736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0C018FE-C8D6-4A9C-A702-41F1E0C1C452}" type="datetimeFigureOut">
              <a:rPr lang="en-IN" smtClean="0"/>
              <a:t>31-03-2021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3104558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8200" y="987424"/>
            <a:ext cx="3933825" cy="106997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0C018FE-C8D6-4A9C-A702-41F1E0C1C452}" type="datetimeFigureOut">
              <a:rPr lang="en-IN" smtClean="0"/>
              <a:t>31-03-2021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4086360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C018FE-C8D6-4A9C-A702-41F1E0C1C452}" type="datetimeFigureOut">
              <a:rPr lang="en-IN" smtClean="0"/>
              <a:t>31-03-2021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1725356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C018FE-C8D6-4A9C-A702-41F1E0C1C452}" type="datetimeFigureOut">
              <a:rPr lang="en-IN" smtClean="0"/>
              <a:t>31-03-2021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B9132-D0D3-4182-9F3A-A2B393A6FF16}" type="slidenum">
              <a:rPr lang="en-IN" smtClean="0"/>
              <a:t>‹#›</a:t>
            </a:fld>
            <a:endParaRPr lang="en-IN"/>
          </a:p>
        </p:txBody>
      </p:sp>
    </p:spTree>
    <p:extLst>
      <p:ext uri="{BB962C8B-B14F-4D97-AF65-F5344CB8AC3E}">
        <p14:creationId xmlns:p14="http://schemas.microsoft.com/office/powerpoint/2010/main" val="19275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68278" y="705802"/>
            <a:ext cx="9181075" cy="984886"/>
          </a:xfrm>
          <a:prstGeom prst="rect">
            <a:avLst/>
          </a:prstGeom>
        </p:spPr>
        <p:txBody>
          <a:bodyPr vert="horz" lIns="91440" tIns="45720" rIns="91440" bIns="45720" rtlCol="0" anchor="ctr">
            <a:normAutofit/>
          </a:bodyPr>
          <a:lstStyle/>
          <a:p>
            <a:r>
              <a:rPr lang="en-US" dirty="0"/>
              <a:t>CLICK TO EDIT</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C018FE-C8D6-4A9C-A702-41F1E0C1C452}" type="datetimeFigureOut">
              <a:rPr lang="en-IN" smtClean="0"/>
              <a:t>31-03-2021</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Investment Case Study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IN" dirty="0"/>
              <a:t>1</a:t>
            </a:r>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449353" y="325938"/>
            <a:ext cx="1446786" cy="379864"/>
          </a:xfrm>
          <a:prstGeom prst="rect">
            <a:avLst/>
          </a:prstGeom>
        </p:spPr>
      </p:pic>
      <p:pic>
        <p:nvPicPr>
          <p:cNvPr id="8" name="Picture 7"/>
          <p:cNvPicPr>
            <a:picLocks noChangeAspect="1"/>
          </p:cNvPicPr>
          <p:nvPr userDrawn="1"/>
        </p:nvPicPr>
        <p:blipFill>
          <a:blip r:embed="rId14">
            <a:extLst>
              <a:ext uri="{BEBA8EAE-BF5A-486C-A8C5-ECC9F3942E4B}">
                <a14:imgProps xmlns:a14="http://schemas.microsoft.com/office/drawing/2010/main">
                  <a14:imgLayer r:embed="rId15">
                    <a14:imgEffect>
                      <a14:backgroundRemoval t="535" b="100000" l="0" r="100000">
                        <a14:foregroundMark x1="19244" y1="37433" x2="19244" y2="37433"/>
                        <a14:foregroundMark x1="31959" y1="47059" x2="31959" y2="47059"/>
                        <a14:foregroundMark x1="19931" y1="64171" x2="19931" y2="64171"/>
                        <a14:foregroundMark x1="28179" y1="70053" x2="28179" y2="70053"/>
                        <a14:foregroundMark x1="42612" y1="71123" x2="42612" y2="71123"/>
                        <a14:foregroundMark x1="55326" y1="65775" x2="55326" y2="65775"/>
                        <a14:foregroundMark x1="61856" y1="66845" x2="61856" y2="66845"/>
                        <a14:foregroundMark x1="37113" y1="24599" x2="37113" y2="24599"/>
                        <a14:foregroundMark x1="34708" y1="11765" x2="34708" y2="11765"/>
                        <a14:foregroundMark x1="23711" y1="11765" x2="23711" y2="11765"/>
                        <a14:foregroundMark x1="23711" y1="22995" x2="23711" y2="22995"/>
                        <a14:foregroundMark x1="39863" y1="40107" x2="39863" y2="40107"/>
                        <a14:foregroundMark x1="26460" y1="47059" x2="26460" y2="47059"/>
                      </a14:backgroundRemoval>
                    </a14:imgEffect>
                  </a14:imgLayer>
                </a14:imgProps>
              </a:ext>
              <a:ext uri="{28A0092B-C50C-407E-A947-70E740481C1C}">
                <a14:useLocalDpi xmlns:a14="http://schemas.microsoft.com/office/drawing/2010/main" val="0"/>
              </a:ext>
            </a:extLst>
          </a:blip>
          <a:stretch>
            <a:fillRect/>
          </a:stretch>
        </p:blipFill>
        <p:spPr>
          <a:xfrm>
            <a:off x="0" y="177766"/>
            <a:ext cx="1268279" cy="815011"/>
          </a:xfrm>
          <a:prstGeom prst="rect">
            <a:avLst/>
          </a:prstGeom>
        </p:spPr>
      </p:pic>
    </p:spTree>
    <p:extLst>
      <p:ext uri="{BB962C8B-B14F-4D97-AF65-F5344CB8AC3E}">
        <p14:creationId xmlns:p14="http://schemas.microsoft.com/office/powerpoint/2010/main" val="31535344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1478" y="344557"/>
            <a:ext cx="9144000" cy="3193774"/>
          </a:xfrm>
        </p:spPr>
        <p:txBody>
          <a:bodyPr>
            <a:normAutofit/>
          </a:bodyPr>
          <a:lstStyle/>
          <a:p>
            <a:r>
              <a:rPr lang="en-IN" sz="2800" dirty="0"/>
              <a:t>INVESTMENT ASSIGNMENT</a:t>
            </a:r>
            <a:br>
              <a:rPr lang="en-IN" sz="2800" dirty="0"/>
            </a:br>
            <a:br>
              <a:rPr lang="en-IN" sz="2800" dirty="0"/>
            </a:br>
            <a:r>
              <a:rPr lang="en-IN" sz="2800" dirty="0"/>
              <a:t>SUBMISSION </a:t>
            </a:r>
          </a:p>
        </p:txBody>
      </p:sp>
      <p:sp>
        <p:nvSpPr>
          <p:cNvPr id="3" name="Subtitle 2"/>
          <p:cNvSpPr>
            <a:spLocks noGrp="1"/>
          </p:cNvSpPr>
          <p:nvPr>
            <p:ph type="subTitle" idx="1"/>
          </p:nvPr>
        </p:nvSpPr>
        <p:spPr>
          <a:xfrm>
            <a:off x="388442" y="4793845"/>
            <a:ext cx="6138856" cy="1531917"/>
          </a:xfrm>
        </p:spPr>
        <p:txBody>
          <a:bodyPr>
            <a:normAutofit/>
          </a:bodyPr>
          <a:lstStyle/>
          <a:p>
            <a:pPr algn="l"/>
            <a:r>
              <a:rPr lang="en-IN" sz="1800" dirty="0"/>
              <a:t>Name: Parthesh C Pujari</a:t>
            </a:r>
          </a:p>
        </p:txBody>
      </p:sp>
    </p:spTree>
    <p:extLst>
      <p:ext uri="{BB962C8B-B14F-4D97-AF65-F5344CB8AC3E}">
        <p14:creationId xmlns:p14="http://schemas.microsoft.com/office/powerpoint/2010/main" val="3414739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IN" sz="1400" dirty="0"/>
              <a:t>	</a:t>
            </a:r>
            <a:r>
              <a:rPr lang="en-IN" sz="2000" dirty="0"/>
              <a:t>This data analysis is for an asset management company – Spark Funds. Spark Funds wants to invest amount between 5 million - 15 million USDs in some companies of English-speaking countries.</a:t>
            </a:r>
          </a:p>
          <a:p>
            <a:pPr marL="0" indent="0" algn="just">
              <a:buNone/>
            </a:pPr>
            <a:r>
              <a:rPr lang="en-IN" sz="2000" dirty="0"/>
              <a:t>For this data analysis the real investment data has been sourced from </a:t>
            </a:r>
            <a:r>
              <a:rPr lang="en-US" sz="2000" dirty="0"/>
              <a:t>crunchbase.com. The business objective is to identify the best sectors, countries, and a suitable investment type for making investments. The overall strategy is to invest where others are investing, implying that the 'best' sectors and countries are the ones 'where most investors are investing'. </a:t>
            </a:r>
          </a:p>
          <a:p>
            <a:pPr marL="0" indent="0">
              <a:buNone/>
            </a:pPr>
            <a:endParaRPr lang="en-IN" sz="2000" dirty="0"/>
          </a:p>
        </p:txBody>
      </p:sp>
      <p:sp>
        <p:nvSpPr>
          <p:cNvPr id="5" name="Title 1"/>
          <p:cNvSpPr>
            <a:spLocks noGrp="1"/>
          </p:cNvSpPr>
          <p:nvPr>
            <p:ph type="title"/>
          </p:nvPr>
        </p:nvSpPr>
        <p:spPr>
          <a:xfrm>
            <a:off x="1136469" y="640080"/>
            <a:ext cx="9313817" cy="856138"/>
          </a:xfrm>
        </p:spPr>
        <p:txBody>
          <a:bodyPr>
            <a:normAutofit/>
          </a:bodyPr>
          <a:lstStyle/>
          <a:p>
            <a:r>
              <a:rPr lang="en-IN" sz="2800" dirty="0"/>
              <a:t>Abstract</a:t>
            </a:r>
          </a:p>
        </p:txBody>
      </p:sp>
    </p:spTree>
    <p:extLst>
      <p:ext uri="{BB962C8B-B14F-4D97-AF65-F5344CB8AC3E}">
        <p14:creationId xmlns:p14="http://schemas.microsoft.com/office/powerpoint/2010/main" val="3869754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iagram&#10;&#10;Description automatically generated">
            <a:extLst>
              <a:ext uri="{FF2B5EF4-FFF2-40B4-BE49-F238E27FC236}">
                <a16:creationId xmlns:a16="http://schemas.microsoft.com/office/drawing/2014/main" id="{5A31AB3B-B875-4226-976C-0D0C505B54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7948" y="856138"/>
            <a:ext cx="7400155" cy="5743976"/>
          </a:xfrm>
        </p:spPr>
      </p:pic>
      <p:sp>
        <p:nvSpPr>
          <p:cNvPr id="5" name="Title 1"/>
          <p:cNvSpPr>
            <a:spLocks noGrp="1"/>
          </p:cNvSpPr>
          <p:nvPr>
            <p:ph type="title"/>
          </p:nvPr>
        </p:nvSpPr>
        <p:spPr>
          <a:xfrm>
            <a:off x="1117419" y="0"/>
            <a:ext cx="9313817" cy="856138"/>
          </a:xfrm>
        </p:spPr>
        <p:txBody>
          <a:bodyPr/>
          <a:lstStyle/>
          <a:p>
            <a:r>
              <a:rPr lang="en-IN" b="1" dirty="0">
                <a:latin typeface="Arial" panose="020B0604020202020204" pitchFamily="34" charset="0"/>
                <a:cs typeface="Arial" panose="020B0604020202020204" pitchFamily="34" charset="0"/>
              </a:rPr>
              <a:t> </a:t>
            </a:r>
            <a:r>
              <a:rPr lang="en-IN" sz="2800" dirty="0"/>
              <a:t>Flowchart for solving problem</a:t>
            </a:r>
          </a:p>
        </p:txBody>
      </p:sp>
    </p:spTree>
    <p:extLst>
      <p:ext uri="{BB962C8B-B14F-4D97-AF65-F5344CB8AC3E}">
        <p14:creationId xmlns:p14="http://schemas.microsoft.com/office/powerpoint/2010/main" val="2118598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a:t>
            </a:r>
            <a:r>
              <a:rPr lang="en-IN" sz="2800" dirty="0"/>
              <a:t>Data Analysis </a:t>
            </a:r>
          </a:p>
        </p:txBody>
      </p:sp>
      <p:sp>
        <p:nvSpPr>
          <p:cNvPr id="3" name="Content Placeholder 2"/>
          <p:cNvSpPr>
            <a:spLocks noGrp="1"/>
          </p:cNvSpPr>
          <p:nvPr>
            <p:ph idx="1"/>
          </p:nvPr>
        </p:nvSpPr>
        <p:spPr/>
        <p:txBody>
          <a:bodyPr>
            <a:normAutofit lnSpcReduction="10000"/>
          </a:bodyPr>
          <a:lstStyle/>
          <a:p>
            <a:pPr algn="just"/>
            <a:r>
              <a:rPr lang="en-IN" sz="2000" dirty="0"/>
              <a:t>After loading the companies.csv and rounds2.csv, some encoding issue were seen. These were resolved by using encoding='iso-8859-1’ for both the files. After this columns like  </a:t>
            </a:r>
            <a:r>
              <a:rPr lang="en-US" sz="2000" dirty="0"/>
              <a:t>permalink, name and </a:t>
            </a:r>
            <a:r>
              <a:rPr lang="en-US" sz="2000" dirty="0" err="1"/>
              <a:t>company_permalink</a:t>
            </a:r>
            <a:r>
              <a:rPr lang="en-US" sz="2000" dirty="0"/>
              <a:t> in both the data frames created showed invalid characters. This was fixed using following command for respective columns </a:t>
            </a:r>
          </a:p>
          <a:p>
            <a:pPr marL="0" indent="0" algn="just">
              <a:buNone/>
            </a:pPr>
            <a:r>
              <a:rPr lang="en-US" sz="2000" dirty="0"/>
              <a:t>	</a:t>
            </a:r>
            <a:r>
              <a:rPr lang="en-US" sz="2000" dirty="0" err="1"/>
              <a:t>companies.permalink</a:t>
            </a:r>
            <a:r>
              <a:rPr lang="en-US" sz="2000" dirty="0"/>
              <a:t> = </a:t>
            </a:r>
            <a:r>
              <a:rPr lang="en-US" sz="2000" dirty="0" err="1"/>
              <a:t>companies.permalink.str.encode</a:t>
            </a:r>
            <a:r>
              <a:rPr lang="en-US" sz="2000" dirty="0"/>
              <a:t>('utf-8').</a:t>
            </a:r>
            <a:r>
              <a:rPr lang="en-US" sz="2000" dirty="0" err="1"/>
              <a:t>str.decode</a:t>
            </a:r>
            <a:r>
              <a:rPr lang="en-US" sz="2000" dirty="0"/>
              <a:t>('</a:t>
            </a:r>
            <a:r>
              <a:rPr lang="en-US" sz="2000" dirty="0" err="1"/>
              <a:t>ascii','ignore</a:t>
            </a:r>
            <a:r>
              <a:rPr lang="en-US" sz="2000" dirty="0"/>
              <a:t>’)</a:t>
            </a:r>
          </a:p>
          <a:p>
            <a:pPr marL="0" indent="0" algn="just">
              <a:buNone/>
            </a:pPr>
            <a:endParaRPr lang="en-US" sz="2000" dirty="0"/>
          </a:p>
          <a:p>
            <a:pPr algn="just"/>
            <a:r>
              <a:rPr lang="en-US" sz="2000" dirty="0"/>
              <a:t>This fixed both the data frames and were merged for further data analysis</a:t>
            </a:r>
          </a:p>
          <a:p>
            <a:pPr marL="0" indent="0" algn="just">
              <a:buNone/>
            </a:pPr>
            <a:endParaRPr lang="en-US" sz="2000" dirty="0"/>
          </a:p>
          <a:p>
            <a:pPr algn="just"/>
            <a:r>
              <a:rPr lang="en-US" sz="2000" dirty="0"/>
              <a:t>Data Cleaning: </a:t>
            </a:r>
          </a:p>
          <a:p>
            <a:pPr lvl="1" algn="just"/>
            <a:r>
              <a:rPr lang="en-US" sz="2000" dirty="0"/>
              <a:t>Deleted the rows for companies whose status is closed</a:t>
            </a:r>
          </a:p>
          <a:p>
            <a:pPr lvl="1" algn="just"/>
            <a:r>
              <a:rPr lang="en-US" sz="2000" dirty="0"/>
              <a:t>Deleted the rows for companies whose </a:t>
            </a:r>
            <a:r>
              <a:rPr lang="en-US" sz="2000" dirty="0" err="1"/>
              <a:t>country_code</a:t>
            </a:r>
            <a:r>
              <a:rPr lang="en-US" sz="2000" dirty="0"/>
              <a:t> is missing</a:t>
            </a:r>
          </a:p>
          <a:p>
            <a:pPr lvl="1" algn="just"/>
            <a:r>
              <a:rPr lang="en-US" sz="2000" dirty="0"/>
              <a:t>Deleted the columns which are not required for data analysis like ‘</a:t>
            </a:r>
            <a:r>
              <a:rPr lang="en-US" sz="2000" dirty="0" err="1"/>
              <a:t>funding_round_code</a:t>
            </a:r>
            <a:r>
              <a:rPr lang="en-US" sz="2000" dirty="0"/>
              <a:t>’, ‘</a:t>
            </a:r>
            <a:r>
              <a:rPr lang="en-US" sz="2000" dirty="0" err="1"/>
              <a:t>founded_at</a:t>
            </a:r>
            <a:r>
              <a:rPr lang="en-US" sz="2000" dirty="0"/>
              <a:t>’, '</a:t>
            </a:r>
            <a:r>
              <a:rPr lang="en-US" sz="2000" dirty="0" err="1"/>
              <a:t>homepage_url</a:t>
            </a:r>
            <a:r>
              <a:rPr lang="en-US" sz="2000" dirty="0"/>
              <a:t>’, ‘</a:t>
            </a:r>
            <a:r>
              <a:rPr lang="en-US" sz="2000" dirty="0" err="1"/>
              <a:t>state_code</a:t>
            </a:r>
            <a:r>
              <a:rPr lang="en-US" sz="2000" dirty="0"/>
              <a:t>’, ‘region’, ‘city’ etc.</a:t>
            </a:r>
          </a:p>
          <a:p>
            <a:pPr marL="457200" lvl="1" indent="0" algn="just">
              <a:buNone/>
            </a:pPr>
            <a:endParaRPr lang="en-US" sz="1600" dirty="0"/>
          </a:p>
        </p:txBody>
      </p:sp>
    </p:spTree>
    <p:extLst>
      <p:ext uri="{BB962C8B-B14F-4D97-AF65-F5344CB8AC3E}">
        <p14:creationId xmlns:p14="http://schemas.microsoft.com/office/powerpoint/2010/main" val="567511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a:t>
            </a:r>
            <a:r>
              <a:rPr lang="en-IN" sz="2800" dirty="0"/>
              <a:t>Analysis continued…</a:t>
            </a:r>
          </a:p>
        </p:txBody>
      </p:sp>
      <p:sp>
        <p:nvSpPr>
          <p:cNvPr id="3" name="Content Placeholder 2"/>
          <p:cNvSpPr>
            <a:spLocks noGrp="1"/>
          </p:cNvSpPr>
          <p:nvPr>
            <p:ph idx="1"/>
          </p:nvPr>
        </p:nvSpPr>
        <p:spPr>
          <a:xfrm>
            <a:off x="404949" y="1496218"/>
            <a:ext cx="11168742" cy="4963576"/>
          </a:xfrm>
        </p:spPr>
        <p:txBody>
          <a:bodyPr>
            <a:normAutofit/>
          </a:bodyPr>
          <a:lstStyle/>
          <a:p>
            <a:endParaRPr lang="en-IN" sz="2000" dirty="0"/>
          </a:p>
          <a:p>
            <a:r>
              <a:rPr lang="en-IN" sz="2000" dirty="0"/>
              <a:t>Imputing Missing Values</a:t>
            </a:r>
          </a:p>
          <a:p>
            <a:pPr marL="457200" lvl="1" indent="0" algn="just">
              <a:buNone/>
            </a:pPr>
            <a:r>
              <a:rPr lang="en-IN" sz="1600" dirty="0"/>
              <a:t>The ‘</a:t>
            </a:r>
            <a:r>
              <a:rPr lang="en-IN" sz="1600" dirty="0" err="1"/>
              <a:t>raised_amount_usd</a:t>
            </a:r>
            <a:r>
              <a:rPr lang="en-IN" sz="1600" dirty="0"/>
              <a:t>’ columns has 17% missing values. From the boxplots it is seen there are outliers for this variable and hence for imputing the missing values consider median of the funding type category. Hence for example missing value of </a:t>
            </a:r>
            <a:r>
              <a:rPr lang="en-IN" sz="1600" dirty="0" err="1"/>
              <a:t>raised_amount_usd</a:t>
            </a:r>
            <a:r>
              <a:rPr lang="en-IN" sz="1600" dirty="0"/>
              <a:t> for venture funding type will be imputed with median of </a:t>
            </a:r>
            <a:r>
              <a:rPr lang="en-IN" sz="1600" dirty="0" err="1"/>
              <a:t>raised_amount_usd</a:t>
            </a:r>
            <a:r>
              <a:rPr lang="en-IN" sz="1600" dirty="0"/>
              <a:t> for venture.</a:t>
            </a:r>
          </a:p>
          <a:p>
            <a:pPr marL="0" lvl="1" indent="0">
              <a:buNone/>
            </a:pPr>
            <a:endParaRPr lang="en-IN" sz="1600" dirty="0"/>
          </a:p>
          <a:p>
            <a:pPr marL="285750" lvl="1" indent="-285750"/>
            <a:r>
              <a:rPr lang="en-IN" sz="2000" dirty="0"/>
              <a:t> Funding type Analysis</a:t>
            </a:r>
          </a:p>
          <a:p>
            <a:pPr marL="457200" lvl="1" indent="0" algn="just">
              <a:buFont typeface="Arial" panose="020B0604020202020204" pitchFamily="34" charset="0"/>
              <a:buNone/>
            </a:pPr>
            <a:r>
              <a:rPr lang="en-IN" sz="1600" dirty="0"/>
              <a:t>Spark Funds has decided to check for venture, seed, angel and </a:t>
            </a:r>
            <a:r>
              <a:rPr lang="en-IN" sz="1600" dirty="0" err="1"/>
              <a:t>private_equity</a:t>
            </a:r>
            <a:r>
              <a:rPr lang="en-IN" sz="1600" dirty="0"/>
              <a:t> funding types for investment. The Representative Investment amount for these funding types was taken as “median” and used for this analysis. The master data frame was filtered with funding type = venture for further data analysis</a:t>
            </a:r>
          </a:p>
          <a:p>
            <a:pPr marL="457200" lvl="1" indent="0">
              <a:buFont typeface="Arial" panose="020B0604020202020204" pitchFamily="34" charset="0"/>
              <a:buNone/>
            </a:pPr>
            <a:r>
              <a:rPr lang="en-IN" sz="1600" dirty="0"/>
              <a:t>  </a:t>
            </a:r>
          </a:p>
          <a:p>
            <a:pPr marL="457200" lvl="1" indent="-457200"/>
            <a:r>
              <a:rPr lang="en-IN" sz="2000" dirty="0"/>
              <a:t>Country Analysis</a:t>
            </a:r>
          </a:p>
          <a:p>
            <a:pPr marL="457200" lvl="1" indent="0" algn="just">
              <a:buFont typeface="Arial" panose="020B0604020202020204" pitchFamily="34" charset="0"/>
              <a:buNone/>
            </a:pPr>
            <a:r>
              <a:rPr lang="en-IN" sz="1600" dirty="0"/>
              <a:t>From the input data of English speaking countries, the data frame was filtered with observations of English speaking countries. New column giving this English speaking information was added. Top 9 English-speaking countries were found based on the total investment attracted by that country and a data frame was created for this Top 9 countries. Top 3 countries were selected from this data. Data frame was created with venture as funding type and the top 3 English speaking countries.</a:t>
            </a:r>
          </a:p>
        </p:txBody>
      </p:sp>
    </p:spTree>
    <p:extLst>
      <p:ext uri="{BB962C8B-B14F-4D97-AF65-F5344CB8AC3E}">
        <p14:creationId xmlns:p14="http://schemas.microsoft.com/office/powerpoint/2010/main" val="3095347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a:t>
            </a:r>
            <a:r>
              <a:rPr lang="en-IN" sz="2800" dirty="0"/>
              <a:t>Analysis continued…</a:t>
            </a:r>
          </a:p>
        </p:txBody>
      </p:sp>
      <p:sp>
        <p:nvSpPr>
          <p:cNvPr id="3" name="Content Placeholder 2"/>
          <p:cNvSpPr>
            <a:spLocks noGrp="1"/>
          </p:cNvSpPr>
          <p:nvPr>
            <p:ph idx="1"/>
          </p:nvPr>
        </p:nvSpPr>
        <p:spPr>
          <a:xfrm>
            <a:off x="404948" y="1854926"/>
            <a:ext cx="11403593" cy="4344261"/>
          </a:xfrm>
        </p:spPr>
        <p:txBody>
          <a:bodyPr>
            <a:normAutofit/>
          </a:bodyPr>
          <a:lstStyle/>
          <a:p>
            <a:r>
              <a:rPr lang="en-IN" sz="2000" dirty="0"/>
              <a:t> Sector Analysis </a:t>
            </a:r>
          </a:p>
          <a:p>
            <a:pPr marL="0" indent="0">
              <a:buNone/>
            </a:pPr>
            <a:r>
              <a:rPr lang="en-IN" sz="2000" dirty="0"/>
              <a:t>	</a:t>
            </a:r>
            <a:r>
              <a:rPr lang="en-IN" sz="1600" dirty="0"/>
              <a:t>For this analysis first we load the given mapping.csv file which help us to map the company’s Primary category to its Main 	Sector. Now the data frame from the previous analysis is filtered for venture funding type and top 3 countries for attracting 	most of the investment for this funding type. This data frame is further filtered to have only top 3 sectors based on the number 	of investments that sector attracts</a:t>
            </a:r>
            <a:r>
              <a:rPr lang="en-IN" sz="2000" dirty="0"/>
              <a:t>. </a:t>
            </a:r>
          </a:p>
          <a:p>
            <a:pPr marL="0" indent="0">
              <a:buNone/>
            </a:pPr>
            <a:endParaRPr lang="en-IN" sz="2000" dirty="0"/>
          </a:p>
          <a:p>
            <a:r>
              <a:rPr lang="en-IN" sz="2000" dirty="0"/>
              <a:t>Plots were included to back each of the data analysis</a:t>
            </a:r>
          </a:p>
          <a:p>
            <a:pPr marL="0" indent="0">
              <a:buNone/>
            </a:pPr>
            <a:endParaRPr lang="en-IN" sz="800" dirty="0"/>
          </a:p>
          <a:p>
            <a:pPr marL="0" indent="0">
              <a:buNone/>
            </a:pPr>
            <a:endParaRPr lang="en-IN" sz="1600" dirty="0"/>
          </a:p>
        </p:txBody>
      </p:sp>
    </p:spTree>
    <p:extLst>
      <p:ext uri="{BB962C8B-B14F-4D97-AF65-F5344CB8AC3E}">
        <p14:creationId xmlns:p14="http://schemas.microsoft.com/office/powerpoint/2010/main" val="1302983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6B954D9-9E17-41D5-9AF1-6B60EF1E4E33}"/>
              </a:ext>
            </a:extLst>
          </p:cNvPr>
          <p:cNvSpPr>
            <a:spLocks noChangeArrowheads="1"/>
          </p:cNvSpPr>
          <p:nvPr/>
        </p:nvSpPr>
        <p:spPr bwMode="auto">
          <a:xfrm>
            <a:off x="6690049" y="680505"/>
            <a:ext cx="4432041" cy="12926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000000"/>
                </a:solidFill>
                <a:effectLst/>
                <a:latin typeface="Courier New" panose="02070309020205020404" pitchFamily="49" charset="0"/>
              </a:rPr>
              <a:t>funding_round_type</a:t>
            </a:r>
            <a:r>
              <a:rPr kumimoji="0" lang="en-US" altLang="en-US" sz="1400" b="1"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Courier New" panose="02070309020205020404" pitchFamily="49" charset="0"/>
              </a:rPr>
              <a:t>angel 415000.0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000000"/>
                </a:solidFill>
                <a:effectLst/>
                <a:latin typeface="Courier New" panose="02070309020205020404" pitchFamily="49" charset="0"/>
              </a:rPr>
              <a:t>private_equity</a:t>
            </a:r>
            <a:r>
              <a:rPr kumimoji="0" lang="en-US" altLang="en-US" sz="1400" b="1" i="0" u="none" strike="noStrike" cap="none" normalizeH="0" baseline="0" dirty="0">
                <a:ln>
                  <a:noFill/>
                </a:ln>
                <a:solidFill>
                  <a:srgbClr val="000000"/>
                </a:solidFill>
                <a:effectLst/>
                <a:latin typeface="Courier New" panose="02070309020205020404" pitchFamily="49" charset="0"/>
              </a:rPr>
              <a:t> 21000000.0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Courier New" panose="02070309020205020404" pitchFamily="49" charset="0"/>
              </a:rPr>
              <a:t>seed 310000.0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Courier New" panose="02070309020205020404" pitchFamily="49" charset="0"/>
              </a:rPr>
              <a:t>venture 5000000.0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Courier New" panose="02070309020205020404" pitchFamily="49" charset="0"/>
              </a:rPr>
              <a:t>Name: </a:t>
            </a:r>
            <a:r>
              <a:rPr kumimoji="0" lang="en-US" altLang="en-US" sz="1400" b="1" i="0" u="none" strike="noStrike" cap="none" normalizeH="0" baseline="0" dirty="0" err="1">
                <a:ln>
                  <a:noFill/>
                </a:ln>
                <a:solidFill>
                  <a:srgbClr val="000000"/>
                </a:solidFill>
                <a:effectLst/>
                <a:latin typeface="Courier New" panose="02070309020205020404" pitchFamily="49" charset="0"/>
              </a:rPr>
              <a:t>raised_amount_usd</a:t>
            </a:r>
            <a:r>
              <a:rPr kumimoji="0" lang="en-US" altLang="en-US" sz="1400" b="1" i="0" u="none" strike="noStrike" cap="none" normalizeH="0" baseline="0" dirty="0">
                <a:ln>
                  <a:noFill/>
                </a:ln>
                <a:solidFill>
                  <a:srgbClr val="000000"/>
                </a:solidFill>
                <a:effectLst/>
                <a:latin typeface="Courier New" panose="02070309020205020404" pitchFamily="49" charset="0"/>
              </a:rPr>
              <a:t>, </a:t>
            </a:r>
            <a:r>
              <a:rPr kumimoji="0" lang="en-US" altLang="en-US" sz="1400" b="1" i="0" u="none" strike="noStrike" cap="none" normalizeH="0" baseline="0" dirty="0" err="1">
                <a:ln>
                  <a:noFill/>
                </a:ln>
                <a:solidFill>
                  <a:srgbClr val="000000"/>
                </a:solidFill>
                <a:effectLst/>
                <a:latin typeface="Courier New" panose="02070309020205020404" pitchFamily="49" charset="0"/>
              </a:rPr>
              <a:t>dtype</a:t>
            </a:r>
            <a:r>
              <a:rPr kumimoji="0" lang="en-US" altLang="en-US" sz="1400" b="1" i="0" u="none" strike="noStrike" cap="none" normalizeH="0" baseline="0" dirty="0">
                <a:ln>
                  <a:noFill/>
                </a:ln>
                <a:solidFill>
                  <a:srgbClr val="000000"/>
                </a:solidFill>
                <a:effectLst/>
                <a:latin typeface="Courier New" panose="02070309020205020404" pitchFamily="49" charset="0"/>
              </a:rPr>
              <a:t>: float64</a:t>
            </a:r>
            <a:r>
              <a:rPr kumimoji="0" lang="en-US" altLang="en-US" sz="1400" b="1" i="0" u="none" strike="noStrike" cap="none" normalizeH="0" baseline="0" dirty="0">
                <a:ln>
                  <a:noFill/>
                </a:ln>
                <a:solidFill>
                  <a:schemeClr val="tx1"/>
                </a:solidFill>
                <a:effectLst/>
              </a:rPr>
              <a:t> </a:t>
            </a:r>
            <a:endParaRPr kumimoji="0" lang="en-US" altLang="en-US" sz="1400" b="1"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16995BE-879B-41BD-98DC-53BC4AED9B19}"/>
              </a:ext>
            </a:extLst>
          </p:cNvPr>
          <p:cNvSpPr txBox="1"/>
          <p:nvPr/>
        </p:nvSpPr>
        <p:spPr>
          <a:xfrm>
            <a:off x="6316823" y="1973167"/>
            <a:ext cx="4805267" cy="4801314"/>
          </a:xfrm>
          <a:prstGeom prst="rect">
            <a:avLst/>
          </a:prstGeom>
          <a:noFill/>
        </p:spPr>
        <p:txBody>
          <a:bodyPr wrap="square" rtlCol="0">
            <a:spAutoFit/>
          </a:bodyPr>
          <a:lstStyle/>
          <a:p>
            <a:pPr marL="285750" indent="-285750">
              <a:buFont typeface="Arial" panose="020B0604020202020204" pitchFamily="34" charset="0"/>
              <a:buChar char="•"/>
            </a:pPr>
            <a:r>
              <a:rPr lang="en-US" b="1" dirty="0"/>
              <a:t>Funding type Analysis</a:t>
            </a:r>
          </a:p>
          <a:p>
            <a:endParaRPr lang="en-US" dirty="0"/>
          </a:p>
          <a:p>
            <a:r>
              <a:rPr lang="en-US" dirty="0"/>
              <a:t>From the plot of Representative Invested amount to </a:t>
            </a:r>
            <a:r>
              <a:rPr lang="en-US" dirty="0" err="1"/>
              <a:t>funding_round_type</a:t>
            </a:r>
            <a:r>
              <a:rPr lang="en-US" dirty="0"/>
              <a:t> (Selected by Spark funds), it is clear that Spark funds can invest only in Venture funding type as </a:t>
            </a:r>
            <a:r>
              <a:rPr lang="en-US" dirty="0" err="1"/>
              <a:t>arounf</a:t>
            </a:r>
            <a:r>
              <a:rPr lang="en-US" dirty="0"/>
              <a:t> 5 million USDs have been invested in this funding type.</a:t>
            </a:r>
          </a:p>
          <a:p>
            <a:r>
              <a:rPr lang="en-US" dirty="0"/>
              <a:t> </a:t>
            </a:r>
          </a:p>
          <a:p>
            <a:r>
              <a:rPr lang="en-US" dirty="0" err="1"/>
              <a:t>Private_equity</a:t>
            </a:r>
            <a:r>
              <a:rPr lang="en-US" dirty="0"/>
              <a:t> is out of reach as it has collected more than 20 million funds which is beyond higher limit of Spark funds </a:t>
            </a:r>
          </a:p>
          <a:p>
            <a:endParaRPr lang="en-US" dirty="0"/>
          </a:p>
          <a:p>
            <a:r>
              <a:rPr lang="en-US" dirty="0"/>
              <a:t>Angel and Seed funding types together too has attracted less funds than 5 million. </a:t>
            </a:r>
          </a:p>
          <a:p>
            <a:endParaRPr lang="en-US" dirty="0"/>
          </a:p>
          <a:p>
            <a:r>
              <a:rPr lang="en-US" dirty="0"/>
              <a:t>Hence Spark funds can invest in </a:t>
            </a:r>
            <a:r>
              <a:rPr lang="en-US" b="1" dirty="0"/>
              <a:t>“venture” </a:t>
            </a:r>
            <a:r>
              <a:rPr lang="en-US" dirty="0"/>
              <a:t>funding type</a:t>
            </a:r>
          </a:p>
        </p:txBody>
      </p:sp>
      <p:pic>
        <p:nvPicPr>
          <p:cNvPr id="4" name="Picture 2">
            <a:extLst>
              <a:ext uri="{FF2B5EF4-FFF2-40B4-BE49-F238E27FC236}">
                <a16:creationId xmlns:a16="http://schemas.microsoft.com/office/drawing/2014/main" id="{F416CA4A-7B79-4C3B-A905-B46ED9F447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2" y="935690"/>
            <a:ext cx="6267524" cy="5567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856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136469" y="640080"/>
            <a:ext cx="9313817" cy="856138"/>
          </a:xfrm>
        </p:spPr>
        <p:txBody>
          <a:bodyPr/>
          <a:lstStyle/>
          <a:p>
            <a:r>
              <a:rPr lang="en-IN" b="1" dirty="0"/>
              <a:t> </a:t>
            </a:r>
            <a:endParaRPr lang="en-IN" sz="2800" dirty="0"/>
          </a:p>
        </p:txBody>
      </p:sp>
      <p:pic>
        <p:nvPicPr>
          <p:cNvPr id="2050" name="Picture 2">
            <a:extLst>
              <a:ext uri="{FF2B5EF4-FFF2-40B4-BE49-F238E27FC236}">
                <a16:creationId xmlns:a16="http://schemas.microsoft.com/office/drawing/2014/main" id="{C565FE1F-0257-4B59-A885-19B44CB34E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9883" y="1348066"/>
            <a:ext cx="7811644" cy="514977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5CDB5B3-228A-4A42-9E0D-E2148DBA39CF}"/>
              </a:ext>
            </a:extLst>
          </p:cNvPr>
          <p:cNvSpPr txBox="1"/>
          <p:nvPr/>
        </p:nvSpPr>
        <p:spPr>
          <a:xfrm>
            <a:off x="8537510" y="1968759"/>
            <a:ext cx="3228392" cy="4678204"/>
          </a:xfrm>
          <a:prstGeom prst="rect">
            <a:avLst/>
          </a:prstGeom>
          <a:noFill/>
        </p:spPr>
        <p:txBody>
          <a:bodyPr wrap="square" rtlCol="0">
            <a:spAutoFit/>
          </a:bodyPr>
          <a:lstStyle/>
          <a:p>
            <a:pPr marL="285750" indent="-285750">
              <a:buFont typeface="Arial" panose="020B0604020202020204" pitchFamily="34" charset="0"/>
              <a:buChar char="•"/>
            </a:pPr>
            <a:r>
              <a:rPr lang="en-US" b="1" dirty="0"/>
              <a:t>Country Analysis</a:t>
            </a:r>
          </a:p>
          <a:p>
            <a:endParaRPr lang="en-US" dirty="0"/>
          </a:p>
          <a:p>
            <a:r>
              <a:rPr lang="en-US" dirty="0"/>
              <a:t>From the plot of Total amount of funding raised to </a:t>
            </a:r>
            <a:r>
              <a:rPr lang="en-US" dirty="0" err="1"/>
              <a:t>country_code</a:t>
            </a:r>
            <a:r>
              <a:rPr lang="en-US" dirty="0"/>
              <a:t>, it is clear that the top three English-speaking countries to attract most of the investments are</a:t>
            </a:r>
          </a:p>
          <a:p>
            <a:pPr marL="342900" indent="-342900">
              <a:buAutoNum type="arabicParenR"/>
            </a:pPr>
            <a:r>
              <a:rPr lang="en-US" dirty="0"/>
              <a:t>USA</a:t>
            </a:r>
          </a:p>
          <a:p>
            <a:pPr marL="342900" indent="-342900">
              <a:buAutoNum type="arabicParenR"/>
            </a:pPr>
            <a:r>
              <a:rPr lang="en-US" dirty="0"/>
              <a:t>GBR</a:t>
            </a:r>
          </a:p>
          <a:p>
            <a:pPr marL="342900" indent="-342900">
              <a:buAutoNum type="arabicParenR"/>
            </a:pPr>
            <a:r>
              <a:rPr lang="en-US" dirty="0"/>
              <a:t>IND</a:t>
            </a:r>
          </a:p>
          <a:p>
            <a:pPr marL="342900" indent="-342900">
              <a:buAutoNum type="arabicParenR"/>
            </a:pPr>
            <a:endParaRPr lang="en-US" dirty="0"/>
          </a:p>
          <a:p>
            <a:pPr marL="342900" indent="-342900">
              <a:buAutoNum type="arabicParenR"/>
            </a:pPr>
            <a:endParaRPr lang="en-US" dirty="0"/>
          </a:p>
          <a:p>
            <a:pPr marL="342900" indent="-342900">
              <a:buAutoNum type="arabicParenR"/>
            </a:pPr>
            <a:endParaRPr lang="en-US" dirty="0"/>
          </a:p>
          <a:p>
            <a:pPr marL="342900" indent="-342900">
              <a:buAutoNum type="arabicParenR"/>
            </a:pPr>
            <a:endParaRPr lang="en-US" dirty="0"/>
          </a:p>
          <a:p>
            <a:endParaRPr lang="en-US" sz="1400" dirty="0"/>
          </a:p>
          <a:p>
            <a:r>
              <a:rPr lang="en-US" sz="1400" dirty="0"/>
              <a:t>           Y-axis  is on log scale for clarity</a:t>
            </a:r>
          </a:p>
        </p:txBody>
      </p:sp>
    </p:spTree>
    <p:extLst>
      <p:ext uri="{BB962C8B-B14F-4D97-AF65-F5344CB8AC3E}">
        <p14:creationId xmlns:p14="http://schemas.microsoft.com/office/powerpoint/2010/main" val="3733554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1A5085F-71F8-48DB-8094-423F7881AB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69" y="1470737"/>
            <a:ext cx="7139989" cy="43109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D47A00C-B7E9-4EA2-828E-6E43288F9FBA}"/>
              </a:ext>
            </a:extLst>
          </p:cNvPr>
          <p:cNvSpPr txBox="1"/>
          <p:nvPr/>
        </p:nvSpPr>
        <p:spPr>
          <a:xfrm>
            <a:off x="7669763" y="1539551"/>
            <a:ext cx="4142792"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t>Sector Analysis</a:t>
            </a:r>
          </a:p>
          <a:p>
            <a:endParaRPr lang="en-US" dirty="0"/>
          </a:p>
          <a:p>
            <a:r>
              <a:rPr lang="en-US" dirty="0"/>
              <a:t>Sector Analysis for top 3 English-speaking countries for venture funding type.</a:t>
            </a:r>
          </a:p>
          <a:p>
            <a:endParaRPr lang="en-US" dirty="0"/>
          </a:p>
          <a:p>
            <a:r>
              <a:rPr lang="en-US" dirty="0"/>
              <a:t>According to the plot it is clearly seen that </a:t>
            </a:r>
          </a:p>
          <a:p>
            <a:r>
              <a:rPr lang="en-US" dirty="0"/>
              <a:t>USA has attracted maximum number of investments</a:t>
            </a:r>
          </a:p>
          <a:p>
            <a:endParaRPr lang="en-US" dirty="0"/>
          </a:p>
          <a:p>
            <a:r>
              <a:rPr lang="en-US" dirty="0"/>
              <a:t>Others sector has raised maximum number of investments</a:t>
            </a:r>
          </a:p>
          <a:p>
            <a:endParaRPr lang="en-US" dirty="0"/>
          </a:p>
          <a:p>
            <a:r>
              <a:rPr lang="en-US" dirty="0"/>
              <a:t>Social, Finance, Analytics, Advertisement sector has raised number of investments after Others sector</a:t>
            </a:r>
          </a:p>
        </p:txBody>
      </p:sp>
    </p:spTree>
    <p:extLst>
      <p:ext uri="{BB962C8B-B14F-4D97-AF65-F5344CB8AC3E}">
        <p14:creationId xmlns:p14="http://schemas.microsoft.com/office/powerpoint/2010/main" val="1057818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000" dirty="0"/>
              <a:t>Considering the funding type analysis Spark funds has the option to invest in venture funding type considering it can invest between 5-15 million USDs</a:t>
            </a:r>
          </a:p>
          <a:p>
            <a:pPr algn="just"/>
            <a:r>
              <a:rPr lang="en-US" sz="2000" dirty="0"/>
              <a:t>From the country analysis USA seems to be most favorable country to invest.</a:t>
            </a:r>
          </a:p>
          <a:p>
            <a:pPr algn="just"/>
            <a:r>
              <a:rPr lang="en-US" sz="2000" dirty="0"/>
              <a:t>With Sector analysis, Others sector is invested the greatest number of times in all the countries for venture funding type. </a:t>
            </a:r>
          </a:p>
          <a:p>
            <a:pPr algn="just"/>
            <a:r>
              <a:rPr lang="en-US" sz="2000" dirty="0"/>
              <a:t>The second ranking sector - Social, Finance, Analytics, Advertisement is another good option as it has raised almost comparable number of investments as Others and similar trend is seen in other countries too.</a:t>
            </a:r>
          </a:p>
          <a:p>
            <a:pPr algn="just"/>
            <a:r>
              <a:rPr lang="en-US" sz="2000" dirty="0"/>
              <a:t>It will be useful to perform such analysis for </a:t>
            </a:r>
            <a:r>
              <a:rPr lang="en-US" sz="2000" dirty="0" err="1"/>
              <a:t>private_equity</a:t>
            </a:r>
            <a:r>
              <a:rPr lang="en-US" sz="2000" dirty="0"/>
              <a:t> funding type too as for the investment range of Spark funds it can invest in </a:t>
            </a:r>
            <a:r>
              <a:rPr lang="en-US" sz="2000" dirty="0" err="1"/>
              <a:t>private_equity</a:t>
            </a:r>
            <a:r>
              <a:rPr lang="en-US" sz="2000" dirty="0"/>
              <a:t> companies and its funding can remain in Inter-quartile range between 25 percentile and median of the raised amount for </a:t>
            </a:r>
            <a:r>
              <a:rPr lang="en-US" sz="2000" dirty="0" err="1"/>
              <a:t>private_equity</a:t>
            </a:r>
            <a:r>
              <a:rPr lang="en-US" sz="2000" dirty="0"/>
              <a:t>. In that case accordingly we must apply filters to the data and restricting the number of investments only in that range. </a:t>
            </a:r>
          </a:p>
          <a:p>
            <a:pPr marL="0" indent="0">
              <a:buNone/>
            </a:pPr>
            <a:endParaRPr lang="en-IN" sz="1400" dirty="0"/>
          </a:p>
        </p:txBody>
      </p:sp>
      <p:sp>
        <p:nvSpPr>
          <p:cNvPr id="5" name="Title 1"/>
          <p:cNvSpPr>
            <a:spLocks noGrp="1"/>
          </p:cNvSpPr>
          <p:nvPr>
            <p:ph type="title"/>
          </p:nvPr>
        </p:nvSpPr>
        <p:spPr>
          <a:xfrm>
            <a:off x="1136469" y="640080"/>
            <a:ext cx="9313817" cy="856138"/>
          </a:xfrm>
        </p:spPr>
        <p:txBody>
          <a:bodyPr/>
          <a:lstStyle/>
          <a:p>
            <a:r>
              <a:rPr lang="en-IN" b="1" dirty="0"/>
              <a:t> </a:t>
            </a:r>
            <a:r>
              <a:rPr lang="en-IN" sz="2800" dirty="0"/>
              <a:t>Conclusions</a:t>
            </a:r>
          </a:p>
        </p:txBody>
      </p:sp>
    </p:spTree>
    <p:extLst>
      <p:ext uri="{BB962C8B-B14F-4D97-AF65-F5344CB8AC3E}">
        <p14:creationId xmlns:p14="http://schemas.microsoft.com/office/powerpoint/2010/main" val="13997066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405</TotalTime>
  <Words>998</Words>
  <Application>Microsoft Office PowerPoint</Application>
  <PresentationFormat>Widescreen</PresentationFormat>
  <Paragraphs>75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Courier New</vt:lpstr>
      <vt:lpstr>Times New Roman</vt:lpstr>
      <vt:lpstr>Office Theme</vt:lpstr>
      <vt:lpstr>INVESTMENT ASSIGNMENT  SUBMISSION </vt:lpstr>
      <vt:lpstr>Abstract</vt:lpstr>
      <vt:lpstr> Flowchart for solving problem</vt:lpstr>
      <vt:lpstr> Data Analysis </vt:lpstr>
      <vt:lpstr> Analysis continued…</vt:lpstr>
      <vt:lpstr> Analysis continued…</vt:lpstr>
      <vt:lpstr>PowerPoint Presentation</vt:lpstr>
      <vt:lpstr> </vt:lpstr>
      <vt:lpstr>PowerPoint Presentation</vt:lpstr>
      <vt:lpstr> 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 Case Study  Submission</dc:title>
  <dc:creator>Chiranjeev</dc:creator>
  <cp:lastModifiedBy>Pujari, Parthesh (DI SW PE PLA TCIN SVCS CORE)</cp:lastModifiedBy>
  <cp:revision>53</cp:revision>
  <cp:lastPrinted>2021-03-31T08:18:24Z</cp:lastPrinted>
  <dcterms:created xsi:type="dcterms:W3CDTF">2016-06-09T08:16:28Z</dcterms:created>
  <dcterms:modified xsi:type="dcterms:W3CDTF">2021-03-31T08:19:13Z</dcterms:modified>
</cp:coreProperties>
</file>