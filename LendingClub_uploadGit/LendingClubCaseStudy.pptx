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70" r:id="rId4"/>
    <p:sldId id="269" r:id="rId5"/>
    <p:sldId id="272" r:id="rId6"/>
    <p:sldId id="271" r:id="rId7"/>
    <p:sldId id="273" r:id="rId8"/>
    <p:sldId id="274" r:id="rId9"/>
    <p:sldId id="276" r:id="rId10"/>
    <p:sldId id="275" r:id="rId11"/>
    <p:sldId id="277" r:id="rId12"/>
    <p:sldId id="280" r:id="rId13"/>
    <p:sldId id="279" r:id="rId14"/>
    <p:sldId id="278" r:id="rId15"/>
    <p:sldId id="265" r:id="rId16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20" autoAdjust="0"/>
    <p:restoredTop sz="94660"/>
  </p:normalViewPr>
  <p:slideViewPr>
    <p:cSldViewPr snapToGrid="0">
      <p:cViewPr varScale="1">
        <p:scale>
          <a:sx n="69" d="100"/>
          <a:sy n="69" d="100"/>
        </p:scale>
        <p:origin x="-696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C97473-9E42-4868-A79A-8E735373CD35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EBC4F8D-DF10-4191-BA1B-2880BD1188B4}">
      <dgm:prSet phldrT="[Text]"/>
      <dgm:spPr/>
      <dgm:t>
        <a:bodyPr/>
        <a:lstStyle/>
        <a:p>
          <a:r>
            <a:rPr lang="en-US" dirty="0" smtClean="0"/>
            <a:t>Data Understanding</a:t>
          </a:r>
          <a:endParaRPr lang="en-US" dirty="0"/>
        </a:p>
      </dgm:t>
    </dgm:pt>
    <dgm:pt modelId="{FF4002D3-9E23-4FF2-9B95-C13FED0DC221}" type="parTrans" cxnId="{00C6D662-320A-4866-8773-FEEAFBC55EC7}">
      <dgm:prSet/>
      <dgm:spPr/>
      <dgm:t>
        <a:bodyPr/>
        <a:lstStyle/>
        <a:p>
          <a:endParaRPr lang="en-US"/>
        </a:p>
      </dgm:t>
    </dgm:pt>
    <dgm:pt modelId="{43680EED-D1CE-4379-86DC-06815A857E21}" type="sibTrans" cxnId="{00C6D662-320A-4866-8773-FEEAFBC55EC7}">
      <dgm:prSet/>
      <dgm:spPr/>
      <dgm:t>
        <a:bodyPr/>
        <a:lstStyle/>
        <a:p>
          <a:endParaRPr lang="en-US"/>
        </a:p>
      </dgm:t>
    </dgm:pt>
    <dgm:pt modelId="{7C97345F-8503-4139-9EBC-4D4386E78BCA}">
      <dgm:prSet phldrT="[Text]"/>
      <dgm:spPr/>
      <dgm:t>
        <a:bodyPr/>
        <a:lstStyle/>
        <a:p>
          <a:r>
            <a:rPr lang="en-US" dirty="0" smtClean="0"/>
            <a:t>Data Cleaning</a:t>
          </a:r>
          <a:endParaRPr lang="en-US" dirty="0"/>
        </a:p>
      </dgm:t>
    </dgm:pt>
    <dgm:pt modelId="{22A5A39C-0559-4293-8CD3-785FE3CB700C}" type="parTrans" cxnId="{DB966727-B152-4899-902D-D828AA4AD08F}">
      <dgm:prSet/>
      <dgm:spPr/>
      <dgm:t>
        <a:bodyPr/>
        <a:lstStyle/>
        <a:p>
          <a:endParaRPr lang="en-US"/>
        </a:p>
      </dgm:t>
    </dgm:pt>
    <dgm:pt modelId="{9E86135A-4E74-43B2-8BBB-A6FA2DD0450C}" type="sibTrans" cxnId="{DB966727-B152-4899-902D-D828AA4AD08F}">
      <dgm:prSet/>
      <dgm:spPr/>
      <dgm:t>
        <a:bodyPr/>
        <a:lstStyle/>
        <a:p>
          <a:endParaRPr lang="en-US"/>
        </a:p>
      </dgm:t>
    </dgm:pt>
    <dgm:pt modelId="{A45484AA-BDD7-474D-9CFA-A3A640D24E7E}">
      <dgm:prSet phldrT="[Text]"/>
      <dgm:spPr/>
      <dgm:t>
        <a:bodyPr/>
        <a:lstStyle/>
        <a:p>
          <a:r>
            <a:rPr lang="en-US" dirty="0" smtClean="0"/>
            <a:t>Outlier Treatment</a:t>
          </a:r>
          <a:endParaRPr lang="en-US" dirty="0"/>
        </a:p>
      </dgm:t>
    </dgm:pt>
    <dgm:pt modelId="{1C935AE2-10D4-4360-980B-BDA9354C217B}" type="parTrans" cxnId="{B8369203-B73D-46C2-9E14-F2DF6FA12174}">
      <dgm:prSet/>
      <dgm:spPr/>
      <dgm:t>
        <a:bodyPr/>
        <a:lstStyle/>
        <a:p>
          <a:endParaRPr lang="en-US"/>
        </a:p>
      </dgm:t>
    </dgm:pt>
    <dgm:pt modelId="{948CD6D2-8C84-4EC2-9791-33554FF3999C}" type="sibTrans" cxnId="{B8369203-B73D-46C2-9E14-F2DF6FA12174}">
      <dgm:prSet/>
      <dgm:spPr/>
      <dgm:t>
        <a:bodyPr/>
        <a:lstStyle/>
        <a:p>
          <a:endParaRPr lang="en-US"/>
        </a:p>
      </dgm:t>
    </dgm:pt>
    <dgm:pt modelId="{8CD79EE5-5B56-4C46-AFFD-43B81314932F}">
      <dgm:prSet phldrT="[Text]"/>
      <dgm:spPr/>
      <dgm:t>
        <a:bodyPr/>
        <a:lstStyle/>
        <a:p>
          <a:r>
            <a:rPr lang="en-US" dirty="0" smtClean="0"/>
            <a:t>Univariate Analysis</a:t>
          </a:r>
          <a:endParaRPr lang="en-US" dirty="0"/>
        </a:p>
      </dgm:t>
    </dgm:pt>
    <dgm:pt modelId="{F034067D-DEAA-473B-AA44-749532BA7297}" type="parTrans" cxnId="{E46F1637-25BE-44D1-B5AD-878E90BBD58B}">
      <dgm:prSet/>
      <dgm:spPr/>
      <dgm:t>
        <a:bodyPr/>
        <a:lstStyle/>
        <a:p>
          <a:endParaRPr lang="en-US"/>
        </a:p>
      </dgm:t>
    </dgm:pt>
    <dgm:pt modelId="{C2A27FA4-6CF4-4ACE-834B-F8B87E75FEDD}" type="sibTrans" cxnId="{E46F1637-25BE-44D1-B5AD-878E90BBD58B}">
      <dgm:prSet/>
      <dgm:spPr/>
      <dgm:t>
        <a:bodyPr/>
        <a:lstStyle/>
        <a:p>
          <a:endParaRPr lang="en-US"/>
        </a:p>
      </dgm:t>
    </dgm:pt>
    <dgm:pt modelId="{406A20B4-0EF0-4EC0-9E1E-98AB40D9A1A6}">
      <dgm:prSet phldrT="[Text]"/>
      <dgm:spPr/>
      <dgm:t>
        <a:bodyPr/>
        <a:lstStyle/>
        <a:p>
          <a:r>
            <a:rPr lang="en-US" dirty="0" smtClean="0"/>
            <a:t>Bivariate Analysis</a:t>
          </a:r>
          <a:endParaRPr lang="en-US" dirty="0"/>
        </a:p>
      </dgm:t>
    </dgm:pt>
    <dgm:pt modelId="{BC827143-317A-493C-8644-752166F7C205}" type="parTrans" cxnId="{7F6E26B2-DD67-4871-A77B-A7CCEB6D9BB1}">
      <dgm:prSet/>
      <dgm:spPr/>
      <dgm:t>
        <a:bodyPr/>
        <a:lstStyle/>
        <a:p>
          <a:endParaRPr lang="en-US"/>
        </a:p>
      </dgm:t>
    </dgm:pt>
    <dgm:pt modelId="{848E785A-9596-45ED-BFE4-460B52F2595D}" type="sibTrans" cxnId="{7F6E26B2-DD67-4871-A77B-A7CCEB6D9BB1}">
      <dgm:prSet/>
      <dgm:spPr/>
      <dgm:t>
        <a:bodyPr/>
        <a:lstStyle/>
        <a:p>
          <a:endParaRPr lang="en-US"/>
        </a:p>
      </dgm:t>
    </dgm:pt>
    <dgm:pt modelId="{A323A445-7E85-4728-9A5D-8FA1AAC97CFC}">
      <dgm:prSet phldrT="[Text]"/>
      <dgm:spPr/>
      <dgm:t>
        <a:bodyPr/>
        <a:lstStyle/>
        <a:p>
          <a:r>
            <a:rPr lang="en-US" dirty="0" smtClean="0"/>
            <a:t>Summarize Results</a:t>
          </a:r>
          <a:endParaRPr lang="en-US" dirty="0"/>
        </a:p>
      </dgm:t>
    </dgm:pt>
    <dgm:pt modelId="{964AB9C7-7CFB-4F7B-A9B7-C479A15E3FE3}" type="parTrans" cxnId="{BF5AD8FA-A667-4EEE-BE86-8D28613926F9}">
      <dgm:prSet/>
      <dgm:spPr/>
      <dgm:t>
        <a:bodyPr/>
        <a:lstStyle/>
        <a:p>
          <a:endParaRPr lang="en-US"/>
        </a:p>
      </dgm:t>
    </dgm:pt>
    <dgm:pt modelId="{776A1403-83DF-4313-A033-D661440E70E4}" type="sibTrans" cxnId="{BF5AD8FA-A667-4EEE-BE86-8D28613926F9}">
      <dgm:prSet/>
      <dgm:spPr/>
      <dgm:t>
        <a:bodyPr/>
        <a:lstStyle/>
        <a:p>
          <a:endParaRPr lang="en-US"/>
        </a:p>
      </dgm:t>
    </dgm:pt>
    <dgm:pt modelId="{1AEDFF37-823C-4614-ADE1-E99C3B780A8C}">
      <dgm:prSet/>
      <dgm:spPr/>
      <dgm:t>
        <a:bodyPr/>
        <a:lstStyle/>
        <a:p>
          <a:r>
            <a:rPr lang="en-US" dirty="0" smtClean="0"/>
            <a:t>Understanding the dataset and various variables involved</a:t>
          </a:r>
          <a:endParaRPr lang="en-US" dirty="0"/>
        </a:p>
      </dgm:t>
    </dgm:pt>
    <dgm:pt modelId="{ECA0DA9D-8675-4C6A-9D24-D48E65927782}" type="parTrans" cxnId="{D39CB8D5-B287-433F-99D2-6EA78F46A9AD}">
      <dgm:prSet/>
      <dgm:spPr/>
      <dgm:t>
        <a:bodyPr/>
        <a:lstStyle/>
        <a:p>
          <a:endParaRPr lang="en-US"/>
        </a:p>
      </dgm:t>
    </dgm:pt>
    <dgm:pt modelId="{E0EA3D09-8955-4115-809A-DCE58E321CBE}" type="sibTrans" cxnId="{D39CB8D5-B287-433F-99D2-6EA78F46A9AD}">
      <dgm:prSet/>
      <dgm:spPr/>
      <dgm:t>
        <a:bodyPr/>
        <a:lstStyle/>
        <a:p>
          <a:endParaRPr lang="en-US"/>
        </a:p>
      </dgm:t>
    </dgm:pt>
    <dgm:pt modelId="{9D1BA27B-2389-4590-A908-A7D063A93363}">
      <dgm:prSet/>
      <dgm:spPr/>
      <dgm:t>
        <a:bodyPr/>
        <a:lstStyle/>
        <a:p>
          <a:r>
            <a:rPr lang="en-US" dirty="0" smtClean="0"/>
            <a:t>Remove the unwanted columns </a:t>
          </a:r>
          <a:r>
            <a:rPr lang="en-US" b="0" dirty="0" smtClean="0"/>
            <a:t>which</a:t>
          </a:r>
          <a:r>
            <a:rPr lang="en-US" dirty="0" smtClean="0"/>
            <a:t> will not contribute for analysis</a:t>
          </a:r>
          <a:endParaRPr lang="en-US" dirty="0"/>
        </a:p>
      </dgm:t>
    </dgm:pt>
    <dgm:pt modelId="{C67501A3-5ECF-4072-AB14-42525198AF45}" type="parTrans" cxnId="{681EB8D0-EBEC-4C96-BB48-5F30D620ED5E}">
      <dgm:prSet/>
      <dgm:spPr/>
      <dgm:t>
        <a:bodyPr/>
        <a:lstStyle/>
        <a:p>
          <a:endParaRPr lang="en-US"/>
        </a:p>
      </dgm:t>
    </dgm:pt>
    <dgm:pt modelId="{F80AD7F7-6582-45C9-9A0C-208E4EC9AAA9}" type="sibTrans" cxnId="{681EB8D0-EBEC-4C96-BB48-5F30D620ED5E}">
      <dgm:prSet/>
      <dgm:spPr/>
      <dgm:t>
        <a:bodyPr/>
        <a:lstStyle/>
        <a:p>
          <a:endParaRPr lang="en-US"/>
        </a:p>
      </dgm:t>
    </dgm:pt>
    <dgm:pt modelId="{4C44E838-F801-4E94-8B69-571F6373E6C1}">
      <dgm:prSet/>
      <dgm:spPr/>
      <dgm:t>
        <a:bodyPr/>
        <a:lstStyle/>
        <a:p>
          <a:r>
            <a:rPr lang="en-US" dirty="0" smtClean="0"/>
            <a:t>Remove the applicants historical and behavior related  variables</a:t>
          </a:r>
          <a:endParaRPr lang="en-US" dirty="0"/>
        </a:p>
      </dgm:t>
    </dgm:pt>
    <dgm:pt modelId="{F1B3F714-0A94-4E51-83BD-444C15564A9C}" type="parTrans" cxnId="{86AF8801-FC8D-4DD7-8140-CD1B4E223905}">
      <dgm:prSet/>
      <dgm:spPr/>
      <dgm:t>
        <a:bodyPr/>
        <a:lstStyle/>
        <a:p>
          <a:endParaRPr lang="en-US"/>
        </a:p>
      </dgm:t>
    </dgm:pt>
    <dgm:pt modelId="{A684CC88-4B87-4021-9BBF-5A37148667B7}" type="sibTrans" cxnId="{86AF8801-FC8D-4DD7-8140-CD1B4E223905}">
      <dgm:prSet/>
      <dgm:spPr/>
      <dgm:t>
        <a:bodyPr/>
        <a:lstStyle/>
        <a:p>
          <a:endParaRPr lang="en-US"/>
        </a:p>
      </dgm:t>
    </dgm:pt>
    <dgm:pt modelId="{305D8F83-7DD7-456F-BBC5-65433A914C42}">
      <dgm:prSet/>
      <dgm:spPr/>
      <dgm:t>
        <a:bodyPr/>
        <a:lstStyle/>
        <a:p>
          <a:r>
            <a:rPr lang="en-US" dirty="0" smtClean="0"/>
            <a:t>Columns having Null values</a:t>
          </a:r>
          <a:endParaRPr lang="en-US" dirty="0"/>
        </a:p>
      </dgm:t>
    </dgm:pt>
    <dgm:pt modelId="{FAA6F991-67DA-451A-BFDC-CC16F3422B71}" type="parTrans" cxnId="{45BF9298-85F1-4FE3-989C-28AB69535F1D}">
      <dgm:prSet/>
      <dgm:spPr/>
      <dgm:t>
        <a:bodyPr/>
        <a:lstStyle/>
        <a:p>
          <a:endParaRPr lang="en-US"/>
        </a:p>
      </dgm:t>
    </dgm:pt>
    <dgm:pt modelId="{2CE6A7A7-4642-44F7-99A1-77F8D33D2471}" type="sibTrans" cxnId="{45BF9298-85F1-4FE3-989C-28AB69535F1D}">
      <dgm:prSet/>
      <dgm:spPr/>
      <dgm:t>
        <a:bodyPr/>
        <a:lstStyle/>
        <a:p>
          <a:endParaRPr lang="en-US"/>
        </a:p>
      </dgm:t>
    </dgm:pt>
    <dgm:pt modelId="{7A7366A0-4C4E-4856-A004-953046830459}">
      <dgm:prSet/>
      <dgm:spPr/>
      <dgm:t>
        <a:bodyPr/>
        <a:lstStyle/>
        <a:p>
          <a:r>
            <a:rPr lang="en-US" dirty="0" smtClean="0"/>
            <a:t>Ignore variables having information after the loan approval like payment status or payment schedule </a:t>
          </a:r>
          <a:endParaRPr lang="en-US" dirty="0"/>
        </a:p>
      </dgm:t>
    </dgm:pt>
    <dgm:pt modelId="{B45CE2E4-11BD-4CB9-8F08-BD9330727E1A}" type="parTrans" cxnId="{351D196A-0919-46D5-9018-9ACC2232E08A}">
      <dgm:prSet/>
      <dgm:spPr/>
      <dgm:t>
        <a:bodyPr/>
        <a:lstStyle/>
        <a:p>
          <a:endParaRPr lang="en-US"/>
        </a:p>
      </dgm:t>
    </dgm:pt>
    <dgm:pt modelId="{942CBEB5-B36B-4642-B7BC-F5413C336964}" type="sibTrans" cxnId="{351D196A-0919-46D5-9018-9ACC2232E08A}">
      <dgm:prSet/>
      <dgm:spPr/>
      <dgm:t>
        <a:bodyPr/>
        <a:lstStyle/>
        <a:p>
          <a:endParaRPr lang="en-US"/>
        </a:p>
      </dgm:t>
    </dgm:pt>
    <dgm:pt modelId="{09095B4F-A141-4262-BF10-C3F86EB2AD34}">
      <dgm:prSet/>
      <dgm:spPr/>
      <dgm:t>
        <a:bodyPr/>
        <a:lstStyle/>
        <a:p>
          <a:r>
            <a:rPr lang="en-US" dirty="0" smtClean="0"/>
            <a:t>Check the data types for numerical variables </a:t>
          </a:r>
          <a:endParaRPr lang="en-US" dirty="0"/>
        </a:p>
      </dgm:t>
    </dgm:pt>
    <dgm:pt modelId="{8F4C373C-1E54-4108-9551-1F0C5D68D2F6}" type="parTrans" cxnId="{A36C4514-9850-4DB2-BFF4-EFA5CE777134}">
      <dgm:prSet/>
      <dgm:spPr/>
      <dgm:t>
        <a:bodyPr/>
        <a:lstStyle/>
        <a:p>
          <a:endParaRPr lang="en-US"/>
        </a:p>
      </dgm:t>
    </dgm:pt>
    <dgm:pt modelId="{59EC72AF-3FB0-4AB4-890F-4589CFCF92D5}" type="sibTrans" cxnId="{A36C4514-9850-4DB2-BFF4-EFA5CE777134}">
      <dgm:prSet/>
      <dgm:spPr/>
      <dgm:t>
        <a:bodyPr/>
        <a:lstStyle/>
        <a:p>
          <a:endParaRPr lang="en-US"/>
        </a:p>
      </dgm:t>
    </dgm:pt>
    <dgm:pt modelId="{B59AA498-B0FD-4218-B754-545E943217CA}">
      <dgm:prSet/>
      <dgm:spPr/>
      <dgm:t>
        <a:bodyPr/>
        <a:lstStyle/>
        <a:p>
          <a:r>
            <a:rPr lang="en-US" dirty="0" smtClean="0"/>
            <a:t>Removing  outliers for numerical variables using box plots</a:t>
          </a:r>
          <a:endParaRPr lang="en-US" dirty="0"/>
        </a:p>
      </dgm:t>
    </dgm:pt>
    <dgm:pt modelId="{A6155923-57C8-4883-837A-8CE971C06149}" type="sibTrans" cxnId="{302ED547-3919-436D-9900-0D9098A0CE91}">
      <dgm:prSet/>
      <dgm:spPr/>
      <dgm:t>
        <a:bodyPr/>
        <a:lstStyle/>
        <a:p>
          <a:endParaRPr lang="en-US"/>
        </a:p>
      </dgm:t>
    </dgm:pt>
    <dgm:pt modelId="{52E912BB-5A08-41FD-B4F4-EA39C8F4D3D1}" type="parTrans" cxnId="{302ED547-3919-436D-9900-0D9098A0CE91}">
      <dgm:prSet/>
      <dgm:spPr/>
      <dgm:t>
        <a:bodyPr/>
        <a:lstStyle/>
        <a:p>
          <a:endParaRPr lang="en-US"/>
        </a:p>
      </dgm:t>
    </dgm:pt>
    <dgm:pt modelId="{4596B13A-A40C-4C53-A1DB-63E23CBB76F1}">
      <dgm:prSet/>
      <dgm:spPr/>
      <dgm:t>
        <a:bodyPr/>
        <a:lstStyle/>
        <a:p>
          <a:r>
            <a:rPr lang="en-US" dirty="0" smtClean="0"/>
            <a:t>Univariate analysis for target variable Loan status</a:t>
          </a:r>
          <a:endParaRPr lang="en-US" dirty="0"/>
        </a:p>
      </dgm:t>
    </dgm:pt>
    <dgm:pt modelId="{B79ECD0F-C390-4110-8666-9C2C7D56A730}" type="parTrans" cxnId="{A4E8309B-00D7-43A3-859D-4BB2DDD971FF}">
      <dgm:prSet/>
      <dgm:spPr/>
      <dgm:t>
        <a:bodyPr/>
        <a:lstStyle/>
        <a:p>
          <a:endParaRPr lang="en-US"/>
        </a:p>
      </dgm:t>
    </dgm:pt>
    <dgm:pt modelId="{695FEAC6-4338-42F8-93BC-E9D7BCE92270}" type="sibTrans" cxnId="{A4E8309B-00D7-43A3-859D-4BB2DDD971FF}">
      <dgm:prSet/>
      <dgm:spPr/>
      <dgm:t>
        <a:bodyPr/>
        <a:lstStyle/>
        <a:p>
          <a:endParaRPr lang="en-US"/>
        </a:p>
      </dgm:t>
    </dgm:pt>
    <dgm:pt modelId="{079C3451-9EA7-4B9F-AD9C-6824FEFDB7D2}">
      <dgm:prSet/>
      <dgm:spPr/>
      <dgm:t>
        <a:bodyPr/>
        <a:lstStyle/>
        <a:p>
          <a:r>
            <a:rPr lang="en-US" dirty="0" smtClean="0"/>
            <a:t>Segmented Univariate Analysis for categorical and continuous variables </a:t>
          </a:r>
          <a:endParaRPr lang="en-US" dirty="0"/>
        </a:p>
      </dgm:t>
    </dgm:pt>
    <dgm:pt modelId="{A5B88372-8392-42C7-A72C-4F1D26C6CC7B}" type="parTrans" cxnId="{DEA8A031-A5EA-445B-9252-199402988A4E}">
      <dgm:prSet/>
      <dgm:spPr/>
      <dgm:t>
        <a:bodyPr/>
        <a:lstStyle/>
        <a:p>
          <a:endParaRPr lang="en-US"/>
        </a:p>
      </dgm:t>
    </dgm:pt>
    <dgm:pt modelId="{E4447BE3-F24C-4CAC-8D16-7ACD86EC7E4B}" type="sibTrans" cxnId="{DEA8A031-A5EA-445B-9252-199402988A4E}">
      <dgm:prSet/>
      <dgm:spPr/>
      <dgm:t>
        <a:bodyPr/>
        <a:lstStyle/>
        <a:p>
          <a:endParaRPr lang="en-US"/>
        </a:p>
      </dgm:t>
    </dgm:pt>
    <dgm:pt modelId="{0793E2EF-F161-4D33-B2D2-CD790B065FAC}">
      <dgm:prSet/>
      <dgm:spPr/>
      <dgm:t>
        <a:bodyPr/>
        <a:lstStyle/>
        <a:p>
          <a:r>
            <a:rPr lang="en-US" dirty="0" smtClean="0"/>
            <a:t>Identifying Derived metrics for analysis of continuous variables</a:t>
          </a:r>
          <a:endParaRPr lang="en-US" dirty="0"/>
        </a:p>
      </dgm:t>
    </dgm:pt>
    <dgm:pt modelId="{AEC90C24-F85D-4AE6-93D5-C76DF7F74C8C}" type="parTrans" cxnId="{6BB54935-9BEC-4609-A9F2-326B5CC87EA4}">
      <dgm:prSet/>
      <dgm:spPr/>
      <dgm:t>
        <a:bodyPr/>
        <a:lstStyle/>
        <a:p>
          <a:endParaRPr lang="en-US"/>
        </a:p>
      </dgm:t>
    </dgm:pt>
    <dgm:pt modelId="{BD53BC9B-B2D7-41FB-A0A7-EA0129F02F4A}" type="sibTrans" cxnId="{6BB54935-9BEC-4609-A9F2-326B5CC87EA4}">
      <dgm:prSet/>
      <dgm:spPr/>
      <dgm:t>
        <a:bodyPr/>
        <a:lstStyle/>
        <a:p>
          <a:endParaRPr lang="en-US"/>
        </a:p>
      </dgm:t>
    </dgm:pt>
    <dgm:pt modelId="{680247CE-104F-4EE4-9074-24865329901B}">
      <dgm:prSet/>
      <dgm:spPr/>
      <dgm:t>
        <a:bodyPr/>
        <a:lstStyle/>
        <a:p>
          <a:r>
            <a:rPr lang="en-US" dirty="0" smtClean="0"/>
            <a:t>Segmented Bivariate analysis on various categorical and continuous variables identified</a:t>
          </a:r>
          <a:endParaRPr lang="en-US" dirty="0"/>
        </a:p>
      </dgm:t>
    </dgm:pt>
    <dgm:pt modelId="{E0C3AEA1-7E9B-4C9F-BC30-34BC3CA9C23E}" type="parTrans" cxnId="{C6598FD0-75A1-4F22-B3CD-3F98285A07AE}">
      <dgm:prSet/>
      <dgm:spPr/>
      <dgm:t>
        <a:bodyPr/>
        <a:lstStyle/>
        <a:p>
          <a:endParaRPr lang="en-US"/>
        </a:p>
      </dgm:t>
    </dgm:pt>
    <dgm:pt modelId="{DCD663DB-C711-499F-A44C-11CF999CEE61}" type="sibTrans" cxnId="{C6598FD0-75A1-4F22-B3CD-3F98285A07AE}">
      <dgm:prSet/>
      <dgm:spPr/>
      <dgm:t>
        <a:bodyPr/>
        <a:lstStyle/>
        <a:p>
          <a:endParaRPr lang="en-US"/>
        </a:p>
      </dgm:t>
    </dgm:pt>
    <dgm:pt modelId="{2148460C-D211-47F5-8D17-0B8FC066DF3C}">
      <dgm:prSet/>
      <dgm:spPr/>
      <dgm:t>
        <a:bodyPr/>
        <a:lstStyle/>
        <a:p>
          <a:r>
            <a:rPr lang="en-US" dirty="0" smtClean="0"/>
            <a:t>Publish driving variables</a:t>
          </a:r>
          <a:endParaRPr lang="en-US" dirty="0"/>
        </a:p>
      </dgm:t>
    </dgm:pt>
    <dgm:pt modelId="{EF005216-7A59-4592-904D-2D2D4CEEEF4A}" type="parTrans" cxnId="{8253D13B-0563-4638-8E3C-6974783C8E2F}">
      <dgm:prSet/>
      <dgm:spPr/>
      <dgm:t>
        <a:bodyPr/>
        <a:lstStyle/>
        <a:p>
          <a:endParaRPr lang="en-US"/>
        </a:p>
      </dgm:t>
    </dgm:pt>
    <dgm:pt modelId="{0F6BBDBC-65A8-46CA-829D-B2FA8EE48296}" type="sibTrans" cxnId="{8253D13B-0563-4638-8E3C-6974783C8E2F}">
      <dgm:prSet/>
      <dgm:spPr/>
      <dgm:t>
        <a:bodyPr/>
        <a:lstStyle/>
        <a:p>
          <a:endParaRPr lang="en-US"/>
        </a:p>
      </dgm:t>
    </dgm:pt>
    <dgm:pt modelId="{E434F6B7-1F21-427A-91A4-4A1655A39A2F}">
      <dgm:prSet/>
      <dgm:spPr/>
      <dgm:t>
        <a:bodyPr/>
        <a:lstStyle/>
        <a:p>
          <a:r>
            <a:rPr lang="en-US" dirty="0" smtClean="0"/>
            <a:t>Insights and observations </a:t>
          </a:r>
          <a:endParaRPr lang="en-US" dirty="0"/>
        </a:p>
      </dgm:t>
    </dgm:pt>
    <dgm:pt modelId="{BF225854-C94C-46C8-8095-506D33922C58}" type="parTrans" cxnId="{92DE2DC1-4CB7-4CC7-8E2C-58D8C0CCD157}">
      <dgm:prSet/>
      <dgm:spPr/>
      <dgm:t>
        <a:bodyPr/>
        <a:lstStyle/>
        <a:p>
          <a:endParaRPr lang="en-US"/>
        </a:p>
      </dgm:t>
    </dgm:pt>
    <dgm:pt modelId="{5991D61D-1CD1-4932-B9DE-E2D9D388048D}" type="sibTrans" cxnId="{92DE2DC1-4CB7-4CC7-8E2C-58D8C0CCD157}">
      <dgm:prSet/>
      <dgm:spPr/>
      <dgm:t>
        <a:bodyPr/>
        <a:lstStyle/>
        <a:p>
          <a:endParaRPr lang="en-US"/>
        </a:p>
      </dgm:t>
    </dgm:pt>
    <dgm:pt modelId="{7E7BD864-A8CF-4FE2-A6AD-6C1E238EE505}" type="pres">
      <dgm:prSet presAssocID="{ACC97473-9E42-4868-A79A-8E735373CD35}" presName="Name0" presStyleCnt="0">
        <dgm:presLayoutVars>
          <dgm:dir/>
          <dgm:animLvl val="lvl"/>
          <dgm:resizeHandles val="exact"/>
        </dgm:presLayoutVars>
      </dgm:prSet>
      <dgm:spPr/>
    </dgm:pt>
    <dgm:pt modelId="{7C7D29D8-CC22-43DA-B2B8-F8655D92B194}" type="pres">
      <dgm:prSet presAssocID="{3EBC4F8D-DF10-4191-BA1B-2880BD1188B4}" presName="composite" presStyleCnt="0"/>
      <dgm:spPr/>
    </dgm:pt>
    <dgm:pt modelId="{A3A7E951-DC9D-4B55-9B2C-EE3E8F7C4EEE}" type="pres">
      <dgm:prSet presAssocID="{3EBC4F8D-DF10-4191-BA1B-2880BD1188B4}" presName="par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75452BE4-A728-4896-9486-8AE84CC93FBE}" type="pres">
      <dgm:prSet presAssocID="{3EBC4F8D-DF10-4191-BA1B-2880BD1188B4}" presName="desTx" presStyleLbl="revTx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F68111-5AAA-4B3F-8AE8-52F23192D187}" type="pres">
      <dgm:prSet presAssocID="{43680EED-D1CE-4379-86DC-06815A857E21}" presName="space" presStyleCnt="0"/>
      <dgm:spPr/>
    </dgm:pt>
    <dgm:pt modelId="{D4D7C277-EBD0-46FD-9EB4-1979B526C1C4}" type="pres">
      <dgm:prSet presAssocID="{7C97345F-8503-4139-9EBC-4D4386E78BCA}" presName="composite" presStyleCnt="0"/>
      <dgm:spPr/>
    </dgm:pt>
    <dgm:pt modelId="{4BFFFAB8-E09F-4857-AC83-5B8A0B522808}" type="pres">
      <dgm:prSet presAssocID="{7C97345F-8503-4139-9EBC-4D4386E78BCA}" presName="par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09502DF2-270C-4E2F-AEB4-4017F6529169}" type="pres">
      <dgm:prSet presAssocID="{7C97345F-8503-4139-9EBC-4D4386E78BCA}" presName="desTx" presStyleLbl="revTx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EC979C-3E48-42BD-826A-A710135950D6}" type="pres">
      <dgm:prSet presAssocID="{9E86135A-4E74-43B2-8BBB-A6FA2DD0450C}" presName="space" presStyleCnt="0"/>
      <dgm:spPr/>
    </dgm:pt>
    <dgm:pt modelId="{8CE35DA0-5CC7-441B-A0F8-72D8A7EEBC01}" type="pres">
      <dgm:prSet presAssocID="{A45484AA-BDD7-474D-9CFA-A3A640D24E7E}" presName="composite" presStyleCnt="0"/>
      <dgm:spPr/>
    </dgm:pt>
    <dgm:pt modelId="{8190D150-58C6-45E2-8E2E-74A9F026AC64}" type="pres">
      <dgm:prSet presAssocID="{A45484AA-BDD7-474D-9CFA-A3A640D24E7E}" presName="par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E24398B7-DD13-4FCA-B1F3-F058FC6144E5}" type="pres">
      <dgm:prSet presAssocID="{A45484AA-BDD7-474D-9CFA-A3A640D24E7E}" presName="desTx" presStyleLbl="revTx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19943C-51D7-4EDE-9BE6-AB8D0D9ECC5D}" type="pres">
      <dgm:prSet presAssocID="{948CD6D2-8C84-4EC2-9791-33554FF3999C}" presName="space" presStyleCnt="0"/>
      <dgm:spPr/>
    </dgm:pt>
    <dgm:pt modelId="{E8FA17A1-6C6A-4EE1-9DB0-B8B71AB7A9BB}" type="pres">
      <dgm:prSet presAssocID="{8CD79EE5-5B56-4C46-AFFD-43B81314932F}" presName="composite" presStyleCnt="0"/>
      <dgm:spPr/>
    </dgm:pt>
    <dgm:pt modelId="{0B76E082-5EC2-465B-A632-DCBE1C50AEC6}" type="pres">
      <dgm:prSet presAssocID="{8CD79EE5-5B56-4C46-AFFD-43B81314932F}" presName="par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C8CA2EEA-1E46-4B2F-9A58-74AA95615E93}" type="pres">
      <dgm:prSet presAssocID="{8CD79EE5-5B56-4C46-AFFD-43B81314932F}" presName="desTx" presStyleLbl="revTx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237030F-8B0D-4DCF-9FAD-1FE85873A4A4}" type="pres">
      <dgm:prSet presAssocID="{C2A27FA4-6CF4-4ACE-834B-F8B87E75FEDD}" presName="space" presStyleCnt="0"/>
      <dgm:spPr/>
    </dgm:pt>
    <dgm:pt modelId="{2CA5F281-77EB-4F28-8724-46723EFC57DF}" type="pres">
      <dgm:prSet presAssocID="{406A20B4-0EF0-4EC0-9E1E-98AB40D9A1A6}" presName="composite" presStyleCnt="0"/>
      <dgm:spPr/>
    </dgm:pt>
    <dgm:pt modelId="{F30AD2F0-FFBD-4E83-ABB8-22A1664F54DC}" type="pres">
      <dgm:prSet presAssocID="{406A20B4-0EF0-4EC0-9E1E-98AB40D9A1A6}" presName="par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929B5DDB-B35D-4E54-8035-9B48EBB6A602}" type="pres">
      <dgm:prSet presAssocID="{406A20B4-0EF0-4EC0-9E1E-98AB40D9A1A6}" presName="desTx" presStyleLbl="revTx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FCA2C5-F73E-4585-BB17-0EE1DCEBEEEA}" type="pres">
      <dgm:prSet presAssocID="{848E785A-9596-45ED-BFE4-460B52F2595D}" presName="space" presStyleCnt="0"/>
      <dgm:spPr/>
    </dgm:pt>
    <dgm:pt modelId="{8D6931B4-5742-4792-B406-D7CCBA676730}" type="pres">
      <dgm:prSet presAssocID="{A323A445-7E85-4728-9A5D-8FA1AAC97CFC}" presName="composite" presStyleCnt="0"/>
      <dgm:spPr/>
    </dgm:pt>
    <dgm:pt modelId="{95499771-0C08-4350-B0D7-B08FAC5A666A}" type="pres">
      <dgm:prSet presAssocID="{A323A445-7E85-4728-9A5D-8FA1AAC97CFC}" presName="parTx" presStyleLbl="node1" presStyleIdx="5" presStyleCnt="6">
        <dgm:presLayoutVars>
          <dgm:chMax val="0"/>
          <dgm:chPref val="0"/>
          <dgm:bulletEnabled val="1"/>
        </dgm:presLayoutVars>
      </dgm:prSet>
      <dgm:spPr/>
    </dgm:pt>
    <dgm:pt modelId="{5F747B5B-6FEC-4E7E-A463-E2448C0EFD0C}" type="pres">
      <dgm:prSet presAssocID="{A323A445-7E85-4728-9A5D-8FA1AAC97CFC}" presName="desTx" presStyleLbl="revTx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253D13B-0563-4638-8E3C-6974783C8E2F}" srcId="{A323A445-7E85-4728-9A5D-8FA1AAC97CFC}" destId="{2148460C-D211-47F5-8D17-0B8FC066DF3C}" srcOrd="0" destOrd="0" parTransId="{EF005216-7A59-4592-904D-2D2D4CEEEF4A}" sibTransId="{0F6BBDBC-65A8-46CA-829D-B2FA8EE48296}"/>
    <dgm:cxn modelId="{45BF9298-85F1-4FE3-989C-28AB69535F1D}" srcId="{7C97345F-8503-4139-9EBC-4D4386E78BCA}" destId="{305D8F83-7DD7-456F-BBC5-65433A914C42}" srcOrd="2" destOrd="0" parTransId="{FAA6F991-67DA-451A-BFDC-CC16F3422B71}" sibTransId="{2CE6A7A7-4642-44F7-99A1-77F8D33D2471}"/>
    <dgm:cxn modelId="{E46F1637-25BE-44D1-B5AD-878E90BBD58B}" srcId="{ACC97473-9E42-4868-A79A-8E735373CD35}" destId="{8CD79EE5-5B56-4C46-AFFD-43B81314932F}" srcOrd="3" destOrd="0" parTransId="{F034067D-DEAA-473B-AA44-749532BA7297}" sibTransId="{C2A27FA4-6CF4-4ACE-834B-F8B87E75FEDD}"/>
    <dgm:cxn modelId="{6BB54935-9BEC-4609-A9F2-326B5CC87EA4}" srcId="{8CD79EE5-5B56-4C46-AFFD-43B81314932F}" destId="{0793E2EF-F161-4D33-B2D2-CD790B065FAC}" srcOrd="1" destOrd="0" parTransId="{AEC90C24-F85D-4AE6-93D5-C76DF7F74C8C}" sibTransId="{BD53BC9B-B2D7-41FB-A0A7-EA0129F02F4A}"/>
    <dgm:cxn modelId="{A36C4514-9850-4DB2-BFF4-EFA5CE777134}" srcId="{A45484AA-BDD7-474D-9CFA-A3A640D24E7E}" destId="{09095B4F-A141-4262-BF10-C3F86EB2AD34}" srcOrd="0" destOrd="0" parTransId="{8F4C373C-1E54-4108-9551-1F0C5D68D2F6}" sibTransId="{59EC72AF-3FB0-4AB4-890F-4589CFCF92D5}"/>
    <dgm:cxn modelId="{0AE802B9-C11D-42F8-95F9-A379840980A6}" type="presOf" srcId="{680247CE-104F-4EE4-9074-24865329901B}" destId="{929B5DDB-B35D-4E54-8035-9B48EBB6A602}" srcOrd="0" destOrd="0" presId="urn:microsoft.com/office/officeart/2005/8/layout/chevron1"/>
    <dgm:cxn modelId="{24095FDC-E6F7-4531-B099-B8F5D9DFEA4E}" type="presOf" srcId="{ACC97473-9E42-4868-A79A-8E735373CD35}" destId="{7E7BD864-A8CF-4FE2-A6AD-6C1E238EE505}" srcOrd="0" destOrd="0" presId="urn:microsoft.com/office/officeart/2005/8/layout/chevron1"/>
    <dgm:cxn modelId="{AC83CFB6-82B8-4D54-AEE3-9F78DF94094F}" type="presOf" srcId="{09095B4F-A141-4262-BF10-C3F86EB2AD34}" destId="{E24398B7-DD13-4FCA-B1F3-F058FC6144E5}" srcOrd="0" destOrd="0" presId="urn:microsoft.com/office/officeart/2005/8/layout/chevron1"/>
    <dgm:cxn modelId="{C6598FD0-75A1-4F22-B3CD-3F98285A07AE}" srcId="{406A20B4-0EF0-4EC0-9E1E-98AB40D9A1A6}" destId="{680247CE-104F-4EE4-9074-24865329901B}" srcOrd="0" destOrd="0" parTransId="{E0C3AEA1-7E9B-4C9F-BC30-34BC3CA9C23E}" sibTransId="{DCD663DB-C711-499F-A44C-11CF999CEE61}"/>
    <dgm:cxn modelId="{BF803813-E37B-49BE-8FDA-D4D80D9B7A66}" type="presOf" srcId="{1AEDFF37-823C-4614-ADE1-E99C3B780A8C}" destId="{75452BE4-A728-4896-9486-8AE84CC93FBE}" srcOrd="0" destOrd="0" presId="urn:microsoft.com/office/officeart/2005/8/layout/chevron1"/>
    <dgm:cxn modelId="{DB966727-B152-4899-902D-D828AA4AD08F}" srcId="{ACC97473-9E42-4868-A79A-8E735373CD35}" destId="{7C97345F-8503-4139-9EBC-4D4386E78BCA}" srcOrd="1" destOrd="0" parTransId="{22A5A39C-0559-4293-8CD3-785FE3CB700C}" sibTransId="{9E86135A-4E74-43B2-8BBB-A6FA2DD0450C}"/>
    <dgm:cxn modelId="{042F204E-F2B4-47E9-80B4-5A289E168C0D}" type="presOf" srcId="{305D8F83-7DD7-456F-BBC5-65433A914C42}" destId="{09502DF2-270C-4E2F-AEB4-4017F6529169}" srcOrd="0" destOrd="2" presId="urn:microsoft.com/office/officeart/2005/8/layout/chevron1"/>
    <dgm:cxn modelId="{9B70BD46-689B-404C-B19F-8BE212B5037B}" type="presOf" srcId="{0793E2EF-F161-4D33-B2D2-CD790B065FAC}" destId="{C8CA2EEA-1E46-4B2F-9A58-74AA95615E93}" srcOrd="0" destOrd="1" presId="urn:microsoft.com/office/officeart/2005/8/layout/chevron1"/>
    <dgm:cxn modelId="{5632089A-17F6-4D23-9473-AA099CF884F6}" type="presOf" srcId="{E434F6B7-1F21-427A-91A4-4A1655A39A2F}" destId="{5F747B5B-6FEC-4E7E-A463-E2448C0EFD0C}" srcOrd="0" destOrd="1" presId="urn:microsoft.com/office/officeart/2005/8/layout/chevron1"/>
    <dgm:cxn modelId="{681EB8D0-EBEC-4C96-BB48-5F30D620ED5E}" srcId="{7C97345F-8503-4139-9EBC-4D4386E78BCA}" destId="{9D1BA27B-2389-4590-A908-A7D063A93363}" srcOrd="0" destOrd="0" parTransId="{C67501A3-5ECF-4072-AB14-42525198AF45}" sibTransId="{F80AD7F7-6582-45C9-9A0C-208E4EC9AAA9}"/>
    <dgm:cxn modelId="{BF5AD8FA-A667-4EEE-BE86-8D28613926F9}" srcId="{ACC97473-9E42-4868-A79A-8E735373CD35}" destId="{A323A445-7E85-4728-9A5D-8FA1AAC97CFC}" srcOrd="5" destOrd="0" parTransId="{964AB9C7-7CFB-4F7B-A9B7-C479A15E3FE3}" sibTransId="{776A1403-83DF-4313-A033-D661440E70E4}"/>
    <dgm:cxn modelId="{B8369203-B73D-46C2-9E14-F2DF6FA12174}" srcId="{ACC97473-9E42-4868-A79A-8E735373CD35}" destId="{A45484AA-BDD7-474D-9CFA-A3A640D24E7E}" srcOrd="2" destOrd="0" parTransId="{1C935AE2-10D4-4360-980B-BDA9354C217B}" sibTransId="{948CD6D2-8C84-4EC2-9791-33554FF3999C}"/>
    <dgm:cxn modelId="{FC6135BC-4382-4DB6-A352-4960F46754DC}" type="presOf" srcId="{A323A445-7E85-4728-9A5D-8FA1AAC97CFC}" destId="{95499771-0C08-4350-B0D7-B08FAC5A666A}" srcOrd="0" destOrd="0" presId="urn:microsoft.com/office/officeart/2005/8/layout/chevron1"/>
    <dgm:cxn modelId="{92DE2DC1-4CB7-4CC7-8E2C-58D8C0CCD157}" srcId="{A323A445-7E85-4728-9A5D-8FA1AAC97CFC}" destId="{E434F6B7-1F21-427A-91A4-4A1655A39A2F}" srcOrd="1" destOrd="0" parTransId="{BF225854-C94C-46C8-8095-506D33922C58}" sibTransId="{5991D61D-1CD1-4932-B9DE-E2D9D388048D}"/>
    <dgm:cxn modelId="{4581024F-7328-4F6F-BD90-DFDD75340E14}" type="presOf" srcId="{406A20B4-0EF0-4EC0-9E1E-98AB40D9A1A6}" destId="{F30AD2F0-FFBD-4E83-ABB8-22A1664F54DC}" srcOrd="0" destOrd="0" presId="urn:microsoft.com/office/officeart/2005/8/layout/chevron1"/>
    <dgm:cxn modelId="{351D196A-0919-46D5-9018-9ACC2232E08A}" srcId="{7C97345F-8503-4139-9EBC-4D4386E78BCA}" destId="{7A7366A0-4C4E-4856-A004-953046830459}" srcOrd="3" destOrd="0" parTransId="{B45CE2E4-11BD-4CB9-8F08-BD9330727E1A}" sibTransId="{942CBEB5-B36B-4642-B7BC-F5413C336964}"/>
    <dgm:cxn modelId="{9E544B1C-0960-4ED4-91DF-A9AE6A015CCC}" type="presOf" srcId="{B59AA498-B0FD-4218-B754-545E943217CA}" destId="{E24398B7-DD13-4FCA-B1F3-F058FC6144E5}" srcOrd="0" destOrd="1" presId="urn:microsoft.com/office/officeart/2005/8/layout/chevron1"/>
    <dgm:cxn modelId="{DEA8A031-A5EA-445B-9252-199402988A4E}" srcId="{8CD79EE5-5B56-4C46-AFFD-43B81314932F}" destId="{079C3451-9EA7-4B9F-AD9C-6824FEFDB7D2}" srcOrd="2" destOrd="0" parTransId="{A5B88372-8392-42C7-A72C-4F1D26C6CC7B}" sibTransId="{E4447BE3-F24C-4CAC-8D16-7ACD86EC7E4B}"/>
    <dgm:cxn modelId="{D39CB8D5-B287-433F-99D2-6EA78F46A9AD}" srcId="{3EBC4F8D-DF10-4191-BA1B-2880BD1188B4}" destId="{1AEDFF37-823C-4614-ADE1-E99C3B780A8C}" srcOrd="0" destOrd="0" parTransId="{ECA0DA9D-8675-4C6A-9D24-D48E65927782}" sibTransId="{E0EA3D09-8955-4115-809A-DCE58E321CBE}"/>
    <dgm:cxn modelId="{A4E8309B-00D7-43A3-859D-4BB2DDD971FF}" srcId="{8CD79EE5-5B56-4C46-AFFD-43B81314932F}" destId="{4596B13A-A40C-4C53-A1DB-63E23CBB76F1}" srcOrd="0" destOrd="0" parTransId="{B79ECD0F-C390-4110-8666-9C2C7D56A730}" sibTransId="{695FEAC6-4338-42F8-93BC-E9D7BCE92270}"/>
    <dgm:cxn modelId="{FC4E3F28-FC1A-4981-AA72-EEE84F999A54}" type="presOf" srcId="{4C44E838-F801-4E94-8B69-571F6373E6C1}" destId="{09502DF2-270C-4E2F-AEB4-4017F6529169}" srcOrd="0" destOrd="1" presId="urn:microsoft.com/office/officeart/2005/8/layout/chevron1"/>
    <dgm:cxn modelId="{7B6BD614-C639-4E40-A95B-C6DA444F4E47}" type="presOf" srcId="{8CD79EE5-5B56-4C46-AFFD-43B81314932F}" destId="{0B76E082-5EC2-465B-A632-DCBE1C50AEC6}" srcOrd="0" destOrd="0" presId="urn:microsoft.com/office/officeart/2005/8/layout/chevron1"/>
    <dgm:cxn modelId="{00C6D662-320A-4866-8773-FEEAFBC55EC7}" srcId="{ACC97473-9E42-4868-A79A-8E735373CD35}" destId="{3EBC4F8D-DF10-4191-BA1B-2880BD1188B4}" srcOrd="0" destOrd="0" parTransId="{FF4002D3-9E23-4FF2-9B95-C13FED0DC221}" sibTransId="{43680EED-D1CE-4379-86DC-06815A857E21}"/>
    <dgm:cxn modelId="{9353C797-AD27-4F0C-B690-979AD9A261AE}" type="presOf" srcId="{9D1BA27B-2389-4590-A908-A7D063A93363}" destId="{09502DF2-270C-4E2F-AEB4-4017F6529169}" srcOrd="0" destOrd="0" presId="urn:microsoft.com/office/officeart/2005/8/layout/chevron1"/>
    <dgm:cxn modelId="{FC99EB5B-718A-4C1A-B8FF-5D85CCC70433}" type="presOf" srcId="{3EBC4F8D-DF10-4191-BA1B-2880BD1188B4}" destId="{A3A7E951-DC9D-4B55-9B2C-EE3E8F7C4EEE}" srcOrd="0" destOrd="0" presId="urn:microsoft.com/office/officeart/2005/8/layout/chevron1"/>
    <dgm:cxn modelId="{86AF8801-FC8D-4DD7-8140-CD1B4E223905}" srcId="{7C97345F-8503-4139-9EBC-4D4386E78BCA}" destId="{4C44E838-F801-4E94-8B69-571F6373E6C1}" srcOrd="1" destOrd="0" parTransId="{F1B3F714-0A94-4E51-83BD-444C15564A9C}" sibTransId="{A684CC88-4B87-4021-9BBF-5A37148667B7}"/>
    <dgm:cxn modelId="{7F6E26B2-DD67-4871-A77B-A7CCEB6D9BB1}" srcId="{ACC97473-9E42-4868-A79A-8E735373CD35}" destId="{406A20B4-0EF0-4EC0-9E1E-98AB40D9A1A6}" srcOrd="4" destOrd="0" parTransId="{BC827143-317A-493C-8644-752166F7C205}" sibTransId="{848E785A-9596-45ED-BFE4-460B52F2595D}"/>
    <dgm:cxn modelId="{1A05948F-C420-4327-A489-E91D709430C8}" type="presOf" srcId="{4596B13A-A40C-4C53-A1DB-63E23CBB76F1}" destId="{C8CA2EEA-1E46-4B2F-9A58-74AA95615E93}" srcOrd="0" destOrd="0" presId="urn:microsoft.com/office/officeart/2005/8/layout/chevron1"/>
    <dgm:cxn modelId="{302ED547-3919-436D-9900-0D9098A0CE91}" srcId="{A45484AA-BDD7-474D-9CFA-A3A640D24E7E}" destId="{B59AA498-B0FD-4218-B754-545E943217CA}" srcOrd="1" destOrd="0" parTransId="{52E912BB-5A08-41FD-B4F4-EA39C8F4D3D1}" sibTransId="{A6155923-57C8-4883-837A-8CE971C06149}"/>
    <dgm:cxn modelId="{F8039D70-3E5A-40B5-99AA-34E19DF92FBE}" type="presOf" srcId="{2148460C-D211-47F5-8D17-0B8FC066DF3C}" destId="{5F747B5B-6FEC-4E7E-A463-E2448C0EFD0C}" srcOrd="0" destOrd="0" presId="urn:microsoft.com/office/officeart/2005/8/layout/chevron1"/>
    <dgm:cxn modelId="{ED7B8B3C-C0B3-4215-B362-DF41CDD6D90B}" type="presOf" srcId="{A45484AA-BDD7-474D-9CFA-A3A640D24E7E}" destId="{8190D150-58C6-45E2-8E2E-74A9F026AC64}" srcOrd="0" destOrd="0" presId="urn:microsoft.com/office/officeart/2005/8/layout/chevron1"/>
    <dgm:cxn modelId="{006C7533-0469-4666-A080-7FD6A17D748D}" type="presOf" srcId="{7A7366A0-4C4E-4856-A004-953046830459}" destId="{09502DF2-270C-4E2F-AEB4-4017F6529169}" srcOrd="0" destOrd="3" presId="urn:microsoft.com/office/officeart/2005/8/layout/chevron1"/>
    <dgm:cxn modelId="{F8F5BEAC-F988-404A-9C41-58CE8BF7095E}" type="presOf" srcId="{079C3451-9EA7-4B9F-AD9C-6824FEFDB7D2}" destId="{C8CA2EEA-1E46-4B2F-9A58-74AA95615E93}" srcOrd="0" destOrd="2" presId="urn:microsoft.com/office/officeart/2005/8/layout/chevron1"/>
    <dgm:cxn modelId="{7EA2C469-2544-4696-903C-7CE668D73870}" type="presOf" srcId="{7C97345F-8503-4139-9EBC-4D4386E78BCA}" destId="{4BFFFAB8-E09F-4857-AC83-5B8A0B522808}" srcOrd="0" destOrd="0" presId="urn:microsoft.com/office/officeart/2005/8/layout/chevron1"/>
    <dgm:cxn modelId="{FD5B7248-9ECE-4040-AF51-FEA4818E379C}" type="presParOf" srcId="{7E7BD864-A8CF-4FE2-A6AD-6C1E238EE505}" destId="{7C7D29D8-CC22-43DA-B2B8-F8655D92B194}" srcOrd="0" destOrd="0" presId="urn:microsoft.com/office/officeart/2005/8/layout/chevron1"/>
    <dgm:cxn modelId="{696B633F-F338-4D43-96C3-1613AE431AE9}" type="presParOf" srcId="{7C7D29D8-CC22-43DA-B2B8-F8655D92B194}" destId="{A3A7E951-DC9D-4B55-9B2C-EE3E8F7C4EEE}" srcOrd="0" destOrd="0" presId="urn:microsoft.com/office/officeart/2005/8/layout/chevron1"/>
    <dgm:cxn modelId="{8F314AEC-C51B-48D6-A02A-EA904F6C935C}" type="presParOf" srcId="{7C7D29D8-CC22-43DA-B2B8-F8655D92B194}" destId="{75452BE4-A728-4896-9486-8AE84CC93FBE}" srcOrd="1" destOrd="0" presId="urn:microsoft.com/office/officeart/2005/8/layout/chevron1"/>
    <dgm:cxn modelId="{5063FF2F-3291-4834-A928-D4F694AC79C8}" type="presParOf" srcId="{7E7BD864-A8CF-4FE2-A6AD-6C1E238EE505}" destId="{0EF68111-5AAA-4B3F-8AE8-52F23192D187}" srcOrd="1" destOrd="0" presId="urn:microsoft.com/office/officeart/2005/8/layout/chevron1"/>
    <dgm:cxn modelId="{F38D13FE-691D-4ABE-86FF-E3F4C5753166}" type="presParOf" srcId="{7E7BD864-A8CF-4FE2-A6AD-6C1E238EE505}" destId="{D4D7C277-EBD0-46FD-9EB4-1979B526C1C4}" srcOrd="2" destOrd="0" presId="urn:microsoft.com/office/officeart/2005/8/layout/chevron1"/>
    <dgm:cxn modelId="{A2EE64D9-B0CE-49B5-A9AE-B868203DD09B}" type="presParOf" srcId="{D4D7C277-EBD0-46FD-9EB4-1979B526C1C4}" destId="{4BFFFAB8-E09F-4857-AC83-5B8A0B522808}" srcOrd="0" destOrd="0" presId="urn:microsoft.com/office/officeart/2005/8/layout/chevron1"/>
    <dgm:cxn modelId="{E1310187-65C9-4AA7-A126-65F0C438B36F}" type="presParOf" srcId="{D4D7C277-EBD0-46FD-9EB4-1979B526C1C4}" destId="{09502DF2-270C-4E2F-AEB4-4017F6529169}" srcOrd="1" destOrd="0" presId="urn:microsoft.com/office/officeart/2005/8/layout/chevron1"/>
    <dgm:cxn modelId="{D5102AF3-8F87-4614-9390-2F1AE75950DB}" type="presParOf" srcId="{7E7BD864-A8CF-4FE2-A6AD-6C1E238EE505}" destId="{0CEC979C-3E48-42BD-826A-A710135950D6}" srcOrd="3" destOrd="0" presId="urn:microsoft.com/office/officeart/2005/8/layout/chevron1"/>
    <dgm:cxn modelId="{23F60298-8BE0-4835-AF39-57FD5D0AA792}" type="presParOf" srcId="{7E7BD864-A8CF-4FE2-A6AD-6C1E238EE505}" destId="{8CE35DA0-5CC7-441B-A0F8-72D8A7EEBC01}" srcOrd="4" destOrd="0" presId="urn:microsoft.com/office/officeart/2005/8/layout/chevron1"/>
    <dgm:cxn modelId="{8BFF7004-B784-4022-94D5-90DE72BA7EA3}" type="presParOf" srcId="{8CE35DA0-5CC7-441B-A0F8-72D8A7EEBC01}" destId="{8190D150-58C6-45E2-8E2E-74A9F026AC64}" srcOrd="0" destOrd="0" presId="urn:microsoft.com/office/officeart/2005/8/layout/chevron1"/>
    <dgm:cxn modelId="{B0426B6A-91E0-44FE-8ABE-E15F68A5C123}" type="presParOf" srcId="{8CE35DA0-5CC7-441B-A0F8-72D8A7EEBC01}" destId="{E24398B7-DD13-4FCA-B1F3-F058FC6144E5}" srcOrd="1" destOrd="0" presId="urn:microsoft.com/office/officeart/2005/8/layout/chevron1"/>
    <dgm:cxn modelId="{7E3648A0-24B7-4366-A8AD-96E6D4D48128}" type="presParOf" srcId="{7E7BD864-A8CF-4FE2-A6AD-6C1E238EE505}" destId="{3319943C-51D7-4EDE-9BE6-AB8D0D9ECC5D}" srcOrd="5" destOrd="0" presId="urn:microsoft.com/office/officeart/2005/8/layout/chevron1"/>
    <dgm:cxn modelId="{54042612-1585-406D-B68A-6CC80EDD6439}" type="presParOf" srcId="{7E7BD864-A8CF-4FE2-A6AD-6C1E238EE505}" destId="{E8FA17A1-6C6A-4EE1-9DB0-B8B71AB7A9BB}" srcOrd="6" destOrd="0" presId="urn:microsoft.com/office/officeart/2005/8/layout/chevron1"/>
    <dgm:cxn modelId="{0B83802C-39E7-407C-B23F-154F882D357D}" type="presParOf" srcId="{E8FA17A1-6C6A-4EE1-9DB0-B8B71AB7A9BB}" destId="{0B76E082-5EC2-465B-A632-DCBE1C50AEC6}" srcOrd="0" destOrd="0" presId="urn:microsoft.com/office/officeart/2005/8/layout/chevron1"/>
    <dgm:cxn modelId="{6343DD2D-C6EB-4428-88B0-172C47F84D2B}" type="presParOf" srcId="{E8FA17A1-6C6A-4EE1-9DB0-B8B71AB7A9BB}" destId="{C8CA2EEA-1E46-4B2F-9A58-74AA95615E93}" srcOrd="1" destOrd="0" presId="urn:microsoft.com/office/officeart/2005/8/layout/chevron1"/>
    <dgm:cxn modelId="{AF3AD68F-EC03-4822-8F6E-3E736396448E}" type="presParOf" srcId="{7E7BD864-A8CF-4FE2-A6AD-6C1E238EE505}" destId="{B237030F-8B0D-4DCF-9FAD-1FE85873A4A4}" srcOrd="7" destOrd="0" presId="urn:microsoft.com/office/officeart/2005/8/layout/chevron1"/>
    <dgm:cxn modelId="{A40F840E-10E8-462E-9CDC-06180646148D}" type="presParOf" srcId="{7E7BD864-A8CF-4FE2-A6AD-6C1E238EE505}" destId="{2CA5F281-77EB-4F28-8724-46723EFC57DF}" srcOrd="8" destOrd="0" presId="urn:microsoft.com/office/officeart/2005/8/layout/chevron1"/>
    <dgm:cxn modelId="{FEE22775-1F18-4EF0-84C1-05B20A136D2B}" type="presParOf" srcId="{2CA5F281-77EB-4F28-8724-46723EFC57DF}" destId="{F30AD2F0-FFBD-4E83-ABB8-22A1664F54DC}" srcOrd="0" destOrd="0" presId="urn:microsoft.com/office/officeart/2005/8/layout/chevron1"/>
    <dgm:cxn modelId="{D6BC19B4-B463-4B9F-A817-65A267F14E90}" type="presParOf" srcId="{2CA5F281-77EB-4F28-8724-46723EFC57DF}" destId="{929B5DDB-B35D-4E54-8035-9B48EBB6A602}" srcOrd="1" destOrd="0" presId="urn:microsoft.com/office/officeart/2005/8/layout/chevron1"/>
    <dgm:cxn modelId="{9090CC47-A1B4-4F26-A7C9-DCEF13A229BC}" type="presParOf" srcId="{7E7BD864-A8CF-4FE2-A6AD-6C1E238EE505}" destId="{A9FCA2C5-F73E-4585-BB17-0EE1DCEBEEEA}" srcOrd="9" destOrd="0" presId="urn:microsoft.com/office/officeart/2005/8/layout/chevron1"/>
    <dgm:cxn modelId="{985C657A-5E7D-4A37-844E-BC98E9557AD0}" type="presParOf" srcId="{7E7BD864-A8CF-4FE2-A6AD-6C1E238EE505}" destId="{8D6931B4-5742-4792-B406-D7CCBA676730}" srcOrd="10" destOrd="0" presId="urn:microsoft.com/office/officeart/2005/8/layout/chevron1"/>
    <dgm:cxn modelId="{58AA0538-A3D0-4BDF-BC48-890C49B7C22B}" type="presParOf" srcId="{8D6931B4-5742-4792-B406-D7CCBA676730}" destId="{95499771-0C08-4350-B0D7-B08FAC5A666A}" srcOrd="0" destOrd="0" presId="urn:microsoft.com/office/officeart/2005/8/layout/chevron1"/>
    <dgm:cxn modelId="{7A395DA0-4B49-4BB5-AB93-25FFD478BD22}" type="presParOf" srcId="{8D6931B4-5742-4792-B406-D7CCBA676730}" destId="{5F747B5B-6FEC-4E7E-A463-E2448C0EFD0C}" srcOrd="1" destOrd="0" presId="urn:microsoft.com/office/officeart/2005/8/layout/chevron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E309023-AF2B-4043-B228-F191CADC9BB1}" type="datetimeFigureOut">
              <a:rPr lang="en-IN" smtClean="0"/>
              <a:pPr/>
              <a:t>20-04-2021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354517F-9C19-4E9A-AB98-AA89BD9F1D1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67562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18FE-C8D6-4A9C-A702-41F1E0C1C452}" type="datetimeFigureOut">
              <a:rPr lang="en-IN" smtClean="0"/>
              <a:pPr/>
              <a:t>20-04-2021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B9132-D0D3-4182-9F3A-A2B393A6FF1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46675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36469" y="640080"/>
            <a:ext cx="9313817" cy="85613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49" y="1854926"/>
            <a:ext cx="11168742" cy="4344261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09-06-2016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Investment Case Study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37584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18FE-C8D6-4A9C-A702-41F1E0C1C452}" type="datetimeFigureOut">
              <a:rPr lang="en-IN" smtClean="0"/>
              <a:pPr/>
              <a:t>20-04-2021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B9132-D0D3-4182-9F3A-A2B393A6FF1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2044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18FE-C8D6-4A9C-A702-41F1E0C1C452}" type="datetimeFigureOut">
              <a:rPr lang="en-IN" smtClean="0"/>
              <a:pPr/>
              <a:t>20-04-2021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B9132-D0D3-4182-9F3A-A2B393A6FF1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26578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18FE-C8D6-4A9C-A702-41F1E0C1C452}" type="datetimeFigureOut">
              <a:rPr lang="en-IN" smtClean="0"/>
              <a:pPr/>
              <a:t>20-04-2021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B9132-D0D3-4182-9F3A-A2B393A6FF1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45587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18FE-C8D6-4A9C-A702-41F1E0C1C452}" type="datetimeFigureOut">
              <a:rPr lang="en-IN" smtClean="0"/>
              <a:pPr/>
              <a:t>20-04-2021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B9132-D0D3-4182-9F3A-A2B393A6FF1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7347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18FE-C8D6-4A9C-A702-41F1E0C1C452}" type="datetimeFigureOut">
              <a:rPr lang="en-IN" smtClean="0"/>
              <a:pPr/>
              <a:t>20-04-2021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B9132-D0D3-4182-9F3A-A2B393A6FF1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79458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7424"/>
            <a:ext cx="3933825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2891" y="987425"/>
            <a:ext cx="6182497" cy="48736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18FE-C8D6-4A9C-A702-41F1E0C1C452}" type="datetimeFigureOut">
              <a:rPr lang="en-IN" smtClean="0"/>
              <a:pPr/>
              <a:t>20-04-2021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B9132-D0D3-4182-9F3A-A2B393A6FF1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04558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7424"/>
            <a:ext cx="3933825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18FE-C8D6-4A9C-A702-41F1E0C1C452}" type="datetimeFigureOut">
              <a:rPr lang="en-IN" smtClean="0"/>
              <a:pPr/>
              <a:t>20-04-2021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B9132-D0D3-4182-9F3A-A2B393A6FF1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86360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18FE-C8D6-4A9C-A702-41F1E0C1C452}" type="datetimeFigureOut">
              <a:rPr lang="en-IN" smtClean="0"/>
              <a:pPr/>
              <a:t>20-04-2021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B9132-D0D3-4182-9F3A-A2B393A6FF1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2535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18FE-C8D6-4A9C-A702-41F1E0C1C452}" type="datetimeFigureOut">
              <a:rPr lang="en-IN" smtClean="0"/>
              <a:pPr/>
              <a:t>20-04-2021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B9132-D0D3-4182-9F3A-A2B393A6FF1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2759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8278" y="705802"/>
            <a:ext cx="9181075" cy="9848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018FE-C8D6-4A9C-A702-41F1E0C1C452}" type="datetimeFigureOut">
              <a:rPr lang="en-IN" smtClean="0"/>
              <a:pPr/>
              <a:t>20-04-2021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Investment Case Study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1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449353" y="325938"/>
            <a:ext cx="1446786" cy="3798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 xmlns="">
                  <a14:imgLayer r:embed="rId15">
                    <a14:imgEffect>
                      <a14:backgroundRemoval t="535" b="100000" l="0" r="100000">
                        <a14:foregroundMark x1="19244" y1="37433" x2="19244" y2="37433"/>
                        <a14:foregroundMark x1="31959" y1="47059" x2="31959" y2="47059"/>
                        <a14:foregroundMark x1="19931" y1="64171" x2="19931" y2="64171"/>
                        <a14:foregroundMark x1="28179" y1="70053" x2="28179" y2="70053"/>
                        <a14:foregroundMark x1="42612" y1="71123" x2="42612" y2="71123"/>
                        <a14:foregroundMark x1="55326" y1="65775" x2="55326" y2="65775"/>
                        <a14:foregroundMark x1="61856" y1="66845" x2="61856" y2="66845"/>
                        <a14:foregroundMark x1="37113" y1="24599" x2="37113" y2="24599"/>
                        <a14:foregroundMark x1="34708" y1="11765" x2="34708" y2="11765"/>
                        <a14:foregroundMark x1="23711" y1="11765" x2="23711" y2="11765"/>
                        <a14:foregroundMark x1="23711" y1="22995" x2="23711" y2="22995"/>
                        <a14:foregroundMark x1="39863" y1="40107" x2="39863" y2="40107"/>
                        <a14:foregroundMark x1="26460" y1="47059" x2="26460" y2="470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7766"/>
            <a:ext cx="1268279" cy="81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53534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1478" y="344557"/>
            <a:ext cx="9144000" cy="3193774"/>
          </a:xfrm>
        </p:spPr>
        <p:txBody>
          <a:bodyPr>
            <a:normAutofit/>
          </a:bodyPr>
          <a:lstStyle/>
          <a:p>
            <a:r>
              <a:rPr lang="en-IN" sz="2800" dirty="0" smtClean="0"/>
              <a:t>LENDING CLUB CASE STUDY</a:t>
            </a: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>SUBMISSION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442" y="4793845"/>
            <a:ext cx="6138856" cy="1531917"/>
          </a:xfrm>
        </p:spPr>
        <p:txBody>
          <a:bodyPr>
            <a:normAutofit/>
          </a:bodyPr>
          <a:lstStyle/>
          <a:p>
            <a:pPr algn="l"/>
            <a:r>
              <a:rPr lang="en-IN" sz="1800" dirty="0"/>
              <a:t>Name: </a:t>
            </a:r>
            <a:r>
              <a:rPr lang="en-IN" sz="1800" dirty="0" smtClean="0"/>
              <a:t>Sumeet Savant &amp; Parthesh Pujari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xmlns="" val="3414739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000" dirty="0"/>
              <a:t>	</a:t>
            </a:r>
            <a:r>
              <a:rPr lang="en-IN" sz="2000" dirty="0" smtClean="0"/>
              <a:t>Here we have dataset  having  information  about the past loan  applications  and the status of those loans. Some of the loans are charged off ,  others are successfully paid and some are still running. </a:t>
            </a:r>
            <a:r>
              <a:rPr lang="en-IN" sz="2000" dirty="0" smtClean="0"/>
              <a:t>Understanding the various </a:t>
            </a:r>
            <a:r>
              <a:rPr lang="en-IN" sz="2000" dirty="0" smtClean="0"/>
              <a:t>driving parameters </a:t>
            </a:r>
            <a:r>
              <a:rPr lang="en-IN" sz="2000" dirty="0" smtClean="0"/>
              <a:t>involved in the loan applications process, and their impact on the loan status  has </a:t>
            </a:r>
            <a:r>
              <a:rPr lang="en-IN" sz="2000" dirty="0" smtClean="0"/>
              <a:t>great </a:t>
            </a:r>
            <a:r>
              <a:rPr lang="en-IN" sz="2000" dirty="0" smtClean="0"/>
              <a:t>good business value as it </a:t>
            </a:r>
            <a:r>
              <a:rPr lang="en-IN" sz="2000" dirty="0" smtClean="0"/>
              <a:t>would </a:t>
            </a:r>
            <a:r>
              <a:rPr lang="en-IN" sz="2000" dirty="0" smtClean="0"/>
              <a:t>help convert most of the loans as successful loans and thus lender’s investment is at lower risk. </a:t>
            </a:r>
          </a:p>
          <a:p>
            <a:pPr marL="0" indent="0" algn="just">
              <a:buNone/>
            </a:pPr>
            <a:r>
              <a:rPr lang="en-IN" sz="2000" dirty="0" smtClean="0"/>
              <a:t>	In this case-study we analyse this dataset of </a:t>
            </a:r>
            <a:r>
              <a:rPr lang="en-IN" sz="2000" dirty="0" smtClean="0"/>
              <a:t>past </a:t>
            </a:r>
            <a:r>
              <a:rPr lang="en-IN" sz="2000" dirty="0" smtClean="0"/>
              <a:t>loan applications </a:t>
            </a:r>
            <a:r>
              <a:rPr lang="en-IN" sz="2000" dirty="0" smtClean="0"/>
              <a:t>using the </a:t>
            </a:r>
            <a:r>
              <a:rPr lang="en-IN" sz="2000" dirty="0" smtClean="0"/>
              <a:t>techniques of Exploratory Data Analysis (</a:t>
            </a:r>
            <a:r>
              <a:rPr lang="en-IN" sz="2000" dirty="0" smtClean="0"/>
              <a:t>EDA) to identify various applicants and loan attributes which influence the tendency of loan getting default.</a:t>
            </a:r>
            <a:endParaRPr lang="en-IN" sz="2000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136469" y="640080"/>
            <a:ext cx="9313817" cy="856138"/>
          </a:xfrm>
        </p:spPr>
        <p:txBody>
          <a:bodyPr>
            <a:normAutofit/>
          </a:bodyPr>
          <a:lstStyle/>
          <a:p>
            <a:r>
              <a:rPr lang="en-IN" dirty="0"/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xmlns="" val="3869754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Approach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35527" y="1493982"/>
          <a:ext cx="11731769" cy="53640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BDAAAAG7CAYAAAA122WqAAAAOXRFWHRTb2Z0d2FyZQBNYXRwbG90bGliIHZlcnNpb24zLjMuMiwgaHR0cHM6Ly9tYXRwbG90bGliLm9yZy8vihELAAAACXBIWXMAAAsTAAALEwEAmpwYAAA1AUlEQVR4nO3de5yVZcHv/+/ADJhCIjgDhId8yJ072B5qHkW3DmbKQZhSzJ1KGvXk+ZiCoaJGIfgYG92meCgzS3dFikMhDNpBqTBFOhildhIeBRtmADmVMsys3x/+nC2egnKYG32/X69eM+ua+17rutYfzfLDdd9TViqVSgEAAAAosE4dPQEAAACAf0TAAAAAAApPwAAAAAAKT8AAAAAACk/AAAAAAApPwAAAAAAKT8AAAArnhRdeSFNT0xYd29LSkueee66dZ9T+3i7rAID2ImAAwDvQs88+m/e///1Zu3ZtR0/ldX3yk5/Mr3/96y069sILL8y8efPad0LbwNtlHQDQXgQMAKBwVq1a1S7HFtnbZR0A0F4EDAAgCxYsyHHHHZcPfvCDqa2tTX19fdvPnnrqqXzmM5/JoYcemv322y+f+tSnsnz58iTJV77ylVx00UU588wzc8ABB+Too4/OD3/4wy16zQcffDAjRoxIdXV1amtrU1dXlyQ5++yzs3z58lx44YX56le/mlKplBtuuCHDhw/PAQcckJqamnzjG99Iklx11VV57LHHMnXq1Hzxi1/MI488kurq6s1e54gjjmib0z333JMjjzwy//7v/57jjjsu8+fPf925bdy4Mddcc00OOeSQHHjggbnggguyfv36JMnixYtz8sknp7q6OkOHDs1dd93Vdt7JJ5/cNrckmTlzZj72sY+1ff/pT386l1xyST70oQ/lyCOPzHe+853XXQcA8FoCBgC8w/3xj3/M6aefnv/4j//Io48+mksvvTSXXHJJFi1alCQ577zzcsghh2T+/Pn56U9/mtbW1nz1q19tO3/u3Ln5xCc+kUcffTTDhg3LF77whZRKpTd9zdbW1owdOzYXX3xxHnvssVxyySWZNGlSNmzYkBtvvDHvec97Mm3atJx66qmZPXt2Zs2alW984xv55S9/mSuvvDLXXHNNVqxYkcsuuyzV1dUZO3Zsrrjiijd9zVWrVuXyyy/PTTfdlIULF+aEE07IpEmTXneuN9xwQ37+85/n7rvvzoMPPpi///3v+c///M+sWrUqY8aMyRFHHJGHH34406ZNy0033ZTZs2dv0Xu9YMGC7LfffnnkkUdy+umn56qrrsratWu3ah0A8E4lYADAO9x9992Xgw46KEcffXTKy8tz8MEHp7a2Nvfee2+S5Ktf/WrGjBmT5ubm/PWvf80uu+ySFStWtJ3/P/7H/8jhhx+eioqKfPSjH01jY2M2bNjwpq/ZqVOn7LTTTrnvvvvy2GOP5cADD8yjjz6anXba6TXHfvjDH85dd92V3r17p6mpKRUVFWlpadnqSy66dOmS8vLy3H333fntb3+bUaNGZd68eSkrK3vNsT/4wQ9yxhln5D3veU923HHHTJo0KWPGjMmPfvSjVFZW5tOf/nQqKioyYMCAnHLKKbnnnnu2aA6VlZU54YQTUl5enmOOOSYbN250404A2EICBgC8w61atSrvec97Nhvbbbfd2v7DevHixamtrc1HPvKRTJkyJStWrNhs10KvXr3avi8vL0/y0g6Lf+TrX/96Nm7cmLPOOisHHXRQrr766jQ3N7/muE2bNmXKlCk56KCD8pnPfKbtRpf/aJfHq3Xr1i133HFHli5dmlNOOSWHHnpobrnlltd9nqamps3ek8rKyvTv3/9136t+/fptcYR45XtVUVGRZMveKwAgKe/oCQAAHatv37557LHHNht75plnsuuuu6ahoSFjx47NnXfemQ9+8INJkkmTJrXdA+Of9fe//z0rVqzIddddl9bW1vzyl7/MeeedlwEDBrTdM+Jl06ZNy4svvpiHHnooO+ywQ9asWZO77777dZ+3c+fOm0WQUqmUNWvWJEnWrFmTlpaW3HzzzWlubs7Pf/7znHvuuamurn7NfTN69+6dv/71r9lvv/2SJH/605/y4x//OH379n3N2l9+r5KXdpa88vWff/75f+4NAgBeww4MAHiHO/roo/PYY49lzpw5aWlpycMPP5wf/OAHqa2tzfr161MqlbLDDjskSR5++OHMmjXrdXdKbI2WlpaceeaZue+++1JWVpY+ffqkrKwsPXr0SPLS7oR169YlSdatW5euXbumc+fOWbNmTSZPnpwkbXPo0qVL2w0299hjj2zcuLFtLXfccUfb5SyrVq1qu89HRUVFevfunbKysuy8886vmV9tbW1uueWWNDQ0ZMOGDZk2bVqeffbZDB48OKtXr843vvGNNDc35/e//32+9a1vpba2Nkny3ve+Nz/84Q+zdu3aLF++PDNnztzi9+SV6wAAXkvAAIB3uD333DPTp0/P1772tVRXV2fixImZOHFiDj300PTv3z/nnXde/uM//iP//u//nmuvvTYnnnhi/vznP2/1JRyv1K1bt1x//fW55ZZb8sEPfjAnnnhiRo8encGDBydJRo0alYkTJ2batGk5//zz89xzz+XAAw9MbW1tdtlll7z//e/PH/7whyQvxYavf/3rueiii1JVVZUJEybky1/+cgYNGpRnn322befIXnvtlYkTJ+byyy/PAQcckLPPPjsTJkzI3nvv/Zr5nXnmmTnooINy/PHH54gjjshOO+2Uz3/+89l5553zta99LT/84Q8zaNCgnHPOOfnsZz+bT3ziE0mSs846K926dcvhhx+eM844Ix/96Ee3+D155ToAgNcqK/0rnz4AAAAAtgE7MAAAAIDCcxNPAOAt9/vf/z6jR49+w5+fddZZOfXUU7fhjACA7Z1LSAAAAIDCcwkJAAAAUHgCBgAAAFB479h7YKxevSGtra6eAQAAgKLo1Kksu+yy0+v+7B0bMFpbSwIGAAAAbCdcQgIAAAAUnoABAAAAFJ6AAQAAABSegAEAAAAUnoABAAAAFJ6AAQAAABSegAEAAAAUnoABAAAAFJ6AAQAAABSegAEAAAAUnoABAAAAFJ6AAQAAABSegAEAAAAUnoABAAAAFJ6AAQAAABReeUdPAACAl+yyyw4pL6/o6GkAsJ3atKk5q1e/0NHTaDcCBgBAQZSXV+Sxx6d29DQA2E5V7zs2yds3YLiEBAAAACg8AQMAAAAoPAEDAAAAKLx2DRj/5//8nxx99NEZMWJEbr/99iTJggULUltbmyFDhuTaa69tO/aJJ57IqFGjMnTo0Fx22WXZtGlTkmT58uUZPXp0hg0bljPPPDMbNmxIkqxduzannXZahg8fntGjR6exsbE9lwIAAAB0oHYLGI8++mh+8Ytf5Pvf/37uueeefOtb38qTTz6ZSy+9NNOnT8+cOXOyePHiPPTQQ0mScePG5Yorrsi8efNSKpUyY8aMJMnEiRNz0kknpb6+PgMHDsz06dOTJNddd12qq6szd+7cHH/88bnqqqvaaykAAABAB2u3gHHggQfmm9/8ZsrLy7Ny5cq0tLRk7dq12XPPPbP77runvLw8tbW1qa+vz7Jly/LCCy9k//33T5KMGjUq9fX1aW5uzsKFCzN06NDNxpPkwQcfTG1tbZJk5MiRmT9/fpqbm9trOQAAAEAHatc/o1pRUZHrr78+X//61zNs2LCsWLEilZWVbT+vqqpKQ0PDa8YrKyvT0NCQ1atXp1u3bikvL99sPMlm55SXl6dbt25ZtWpVevfuvUVz69Wr21u1TAAAACiEysruHT2FdtOuASNJzjvvvJx66qk544wzsmTJkpSVlbX9rFQqpaysLK2tra87/vLXV3r141ee06nTlm8oWblyfVpbS1u5GgCA9vN2/tAJwLbR2Liuo6fwL+nUqewNNxy02yUkf/7zn/PEE08kSd71rndlyJAheeSRRza72WZjY2OqqqrSp0+fzcabmppSVVWVnj17Zt26dWlpadns+OSl3RtNTU1Jkk2bNmXDhg3p0aNHey0HAAAA6EDtFjCeffbZTJgwIRs3bszGjRvzox/9KCeccEKefvrpLF26NC0tLZk9e3ZqamrSr1+/dO3aNYsWLUqSzJo1KzU1NamoqEh1dXXmzJmTJKmrq0tNTU2SZPDgwamrq0uSzJkzJ9XV1amoqGiv5QAAAAAdqN0uIRk8eHAef/zxHHPMMencuXOGDBmSESNGpGfPnjn33HPz4osvZvDgwRk2bFiSZOrUqZkwYULWr1+fAQMG5JRTTkmSXHnllRk/fnxuuumm9O3bN9OmTUuSnH/++Rk/fnxGjBiR7t27Z+rUqe21FAAAAKCDlZVKpXfkjSDcAwMAKJrKyu557HH/KAPAP6d637HugQEAAADQkQQMAAAAoPAEDAAAAKDwBAwAAACg8AQMAAAAoPAEDAAAAKDwBAwAAACg8AQMAAAAoPAEDAAAAKDwBAwAAACg8AQMAAAAoPAEDAAAAKDwBAwAAACg8AQMAAAAoPAEDAAAAKDwBAwAAACg8AQMAAAAoPAEDAAAAKDwBAwAAACg8AQMAAAAoPAEDAAAAKDwBAwAAACg8AQMAAAAoPAEDAAAAKDwBAwAAACg8AQMAAAAoPAEDAAAAKDwBAwAAACg8AQMAAAAoPAEDAAAAKDwBAwAAACg8AQMAAAAoPAEDAAAAKDwBAwAAACg8AQMAAAAoPAEDAAAAKDwBAwAAACg8AQMAAAAoPAEDAAAAKDwBAwAAACg8AQMAAAAoPAEDAAAAKDwBAwAAACg8AQMAAAAoPAEDAAAAKDwBAwAAACg8AQMAAAAoPAEDAAAAKDwBAwAAACg8AQMAAAAoPDK2/PJb7jhhsydOzdJMnjw4Fx88cW55JJLsmjRorzrXe9Kkpxzzjk56qij8sQTT+Syyy7Lhg0bUl1dnYkTJ6a8vDzLly/PuHHjsnLlyuy1116ZOnVqdtppp6xduzZjx47NM888k549e+a6665LZWVley4HAAAA6CDttgNjwYIF+dnPfpZ77703dXV1+d3vfpcHHnggixcvzp133plZs2Zl1qxZOeqoo5Ik48aNyxVXXJF58+alVCplxowZSZKJEyfmpJNOSn19fQYOHJjp06cnSa677rpUV1dn7ty5Of7443PVVVe111IAAACADtZuAaOysjLjx49Ply5dUlFRkf79+2f58uVZvnx5Lr300tTW1ub6669Pa2trli1blhdeeCH7779/kmTUqFGpr69Pc3NzFi5cmKFDh242niQPPvhgamtrkyQjR47M/Pnz09zc3F7LAQAAADpQu11Csvfee7d9v2TJksydOzd33XVXHn300Vx55ZXp3r17Tj/99Nx9993Ze++9N7v8o7KyMg0NDVm9enW6deuW8vLyzcaTZMWKFW3nlJeXp1u3blm1alV69+69RfPr1avbW7VUAAAAKITKyu4dPYV20673wEiSP/7xjzn99NNz8cUX59/+7d9y4403tv3s5JNPTl1dXfr375+ysrK28VKplLKysravr/Tqx688p1OnLd9QsnLl+rS2lrZyNQAA7eft/KETgG2jsXFdR0/hX9KpU9kbbjho179CsmjRoowZMyYXXXRRjj322Dz11FOZN29e289LpVLKy8vTp0+fNDY2to03NTWlqqoqPXv2zLp169LS0pIkaWxsTFVVVZKkqqoqTU1NSZJNmzZlw4YN6dGjR3suBwAAAOgg7RYwnnvuuZx99tmZOnVqRowYkeSlYDF58uSsWbMmzc3N+e53v5ujjjoq/fr1S9euXbNo0aIkyaxZs1JTU5OKiopUV1dnzpw5SZK6urrU1NQkeemvmtTV1SVJ5syZk+rq6lRUVLTXcgAAAIAOVFYqldrlOopJkyblnnvuyR577NE2dsIJJ6S1tTV33XVXNm3alCFDhmTs2LFJkieffDITJkzI+vXrM2DAgEyZMiVdunTJsmXLMn78+KxcuTJ9+/bNtGnTsvPOO+f555/P+PHj88wzz6R79+6ZOnVqdtttty2en0tIAICiqazsnscen9rR0wBgO1W979i39SUk7RYwik7AAACKRsAA4F/xdg8Y7XoPDAAAAIC3goABAAAAFJ6AAQAAABSegAEAAAAUnoABAAAAFJ6AAQAAABSegAEAAAAUnoABAAAAFJ6AAQAAABSegAEAAAAUnoABAAAAFJ6AAQAAABSegAEAAAAUnoABAAAAFJ6AAQAAABSegAEAAAAUnoABAAAAFJ6AAQAAABSegAEAAAAUnoABAAAAFJ6AAQAAABSegAEAAAAUnoABAAAAFJ6AAQAAABSegAEAAAAUnoABAAAAFJ6AAQAAABSegAEAAAAUnoABAAAAFJ6AAQAAABSegAEAAAAUnoABAAAAFJ6AAQAAABSegAEAAAAUnoABAAAAFJ6AAQAAABSegAEAAAAUnoABAAAAFJ6AAQAAABSegAEAAAAUnoABAAAAFJ6AAQAAABSegAEAAAAUnoABAAAAFJ6AAQAAABSegAEAAAAUnoABAAAAFJ6AAQAAABSegAEAAAAUnoABAAAAFF67BowbbrghI0aMyIgRI3LNNdckSRYsWJDa2toMGTIk1157bduxTzzxREaNGpWhQ4fmsssuy6ZNm5Iky5cvz+jRozNs2LCceeaZ2bBhQ5Jk7dq1Oe200zJ8+PCMHj06jY2N7bkUAAAAoAO1W8BYsGBBfvazn+Xee+9NXV1dfve732X27Nm59NJLM3369MyZMyeLFy/OQw89lCQZN25crrjiisybNy+lUikzZsxIkkycODEnnXRS6uvrM3DgwEyfPj1Jct1116W6ujpz587N8ccfn6uuuqq9lgIAAAB0sHYLGJWVlRk/fny6dOmSioqK9O/fP0uWLMmee+6Z3XffPeXl5amtrU19fX2WLVuWF154Ifvvv3+SZNSoUamvr09zc3MWLlyYoUOHbjaeJA8++GBqa2uTJCNHjsz8+fPT3NzcXssBAAAAOlB5ez3x3nvv3fb9kiVLMnfu3Hzyk59MZWVl23hVVVUaGhqyYsWKzcYrKyvT0NCQ1atXp1u3bikvL99sPMlm55SXl6dbt25ZtWpVevfuvUXz69Wr27+8RgAAACiSysruHT2FdtNuAeNlf/zjH3P66afn4osvTufOnbNkyZK2n5VKpZSVlaW1tTVlZWWvGX/56yu9+vErz+nUacs3lKxcuT6traWtWwwAQDt6O3/oBGDbaGxc19FT+Jd06lT2hhsO2vUmnosWLcqYMWNy0UUX5dhjj02fPn02u9lmY2NjqqqqXjPe1NSUqqqq9OzZM+vWrUtLS8tmxycv7d5oampKkmzatCkbNmxIjx492nM5AAAAQAdpt4Dx3HPP5eyzz87UqVMzYsSIJMl+++2Xp59+OkuXLk1LS0tmz56dmpqa9OvXL127ds2iRYuSJLNmzUpNTU0qKipSXV2dOXPmJEnq6upSU1OTJBk8eHDq6uqSJHPmzEl1dXUqKiraazkAAABAByorlUrtch3FpEmTcs8992SPPfZoGzvhhBPy3ve+N1OmTMmLL76YwYMH55JLLklZWVmefPLJTJgwIevXr8+AAQMyZcqUdOnSJcuWLcv48eOzcuXK9O3bN9OmTcvOO++c559/PuPHj88zzzyT7t27Z+rUqdltt922eH4uIQEAiqaysnsee3xqR08DgO1U9b5j39aXkLRbwCg6AQMAKBoBA4B/xds9YLTrPTAAAAAA3goCBgAAAFB4AgYAAABQeAIGAAAAUHgCBgAAAFB4AgYAAABQeAIGAAAAUHgCBgAAAFB4AgYAAABQeAIGAAAAUHgCBgAAAFB4AgYAAABQeAIGAAAAUHgCBgAAAFB4AgYAAABQeAIGAAAAUHgCBgAAAFB4AgYAAABQeAIGAAAAUHgCBgAAAFB4AgYAAABQeAIGAAAAUHgCBgAAAFB4AgYAAABQeAIGAAAAUHgCBgAAAFB4AgYAAABQeAIGAAAAUHhbFDAaGhpeM/anP/3pLZ8MAAAAwOt504Dx/PPP5/nnn8+pp56aNWvWtD1uamrKOeecs63mCAAAALzDlb/ZDy+66KL8/Oc/T5IcdNBB/++k8vIMHTq0fWcGAAAA8P9704Bx2223JUkuueSSTJkyZZtMCAAAAODV3jRgvGzKlClZtmxZ1qxZk1Kp1DY+YMCAdpsYAAAAwMu2KGBcf/31ue2229KrV6+2sbKysvzoRz9qt4kBAAAAvGyLAkZdXV3uv//+9O7du73nAwAAAPAaW/RnVPv27SteAAAAAB1mi3ZgHHzwwbnmmmvykY98JDvssEPbuHtgAAAAANvCFgWMmTNnJknq6+vbxtwDAwAAANhWtihg/PjHP27veQAAAAC8oS0KGLfffvvrjn/6059+SycDAAAA8Hq2KGD84Q9/aPt+48aNWbhwYQ4++OB2mxQAAADAK21RwJgyZcpmjxsaGnLZZZe1y4QAAAAAXm2L/ozqq/Xu3TvLli17q+cCAAAA8Lq2+h4YpVIpixcvTq9evdptUgAAAACvtNX3wEiSvn375uKLL26XCQEAAAC82lbdA2PZsmXZtGlT9txzz3adFAAAAMArbVHAWLp0ac4666ysWLEira2t2WWXXXLLLbekf//+7T0/AAAAgC27iecXv/jFfPazn83ChQuzaNGinHnmmZk4cWJ7zw0AAAAgyRYGjJUrV+bYY49te3zcccdl9erV7TYpAAAAgFfaooDR0tKS559/vu3xqlWr2ms+AAAAAK+xRffA+OQnP5lPfOITGT58eMrKyjJnzpx86lOf+ofnrV+/PieccEJuvvnm7LbbbrnkkkuyaNGivOtd70qSnHPOOTnqqKPyxBNP5LLLLsuGDRtSXV2diRMnpry8PMuXL8+4ceOycuXK7LXXXpk6dWp22mmnrF27NmPHjs0zzzyTnj175rrrrktlZeW/9k4AAAAAhbVFOzAGDx6cJGlubs6f//znNDQ05KijjnrTc37zm9/kxBNPzJIlS9rGFi9enDvvvDOzZs3KrFmz2p5j3LhxueKKKzJv3ryUSqXMmDEjSTJx4sScdNJJqa+vz8CBAzN9+vQkyXXXXZfq6urMnTs3xx9/fK666qqtXjgAAACw/diigDF+/PiMHj0648aNy5e//OVccMEFufTSS9/0nBkzZuTKK69MVVVVkuTvf/97li9fnksvvTS1tbW5/vrr09rammXLluWFF17I/vvvnyQZNWpU6uvr09zcnIULF2bo0KGbjSfJgw8+mNra2iTJyJEjM3/+/DQ3N/9TbwAAAABQfFt0Ccnq1atzyimnJEm6du2aMWPGpK6u7k3PefWuiKampgwaNChXXnllunfvntNPPz1333139t57780u/6isrExDQ0NWr16dbt26pby8fLPxJFmxYkXbOeXl5enWrVtWrVqV3r17b9mqk/Tq1W2LjwUAAIDtQWVl946eQrvZooDR0tKShoaGtkDQ1NSUUqm0VS+0++6758Ybb2x7fPLJJ6euri79+/dPWVlZ23ipVEpZWVnb11d69eNXntOp0xZtJmmzcuX6tLZu3RoAANrT2/lDJwDbRmPjuo6ewr+kU6eyN9xwsEUBY8yYMTnmmGNy2GGHpaysLAsWLMjFF1+8VZN46qmnsmTJkrZLQkqlUsrLy9OnT580Nja2HdfU1JSqqqr07Nkz69atS0tLSzp37pzGxsa2y1GqqqrS1NSUPn36ZNOmTdmwYUN69OixVfMBAAAAth9btG3h4x//eG6//fZ84AMfyMCBA3Pbbbe13YNiS5VKpUyePDlr1qxJc3Nzvvvd7+aoo45Kv3790rVr1yxatChJMmvWrNTU1KSioiLV1dWZM2dOkqSuri41NTVJXrqp6MuXsMyZMyfV1dWpqKjYqvkAAAAA24+y0tZeC7KVjjjiiHzzm9/Mbrvtlrvuuit33XVXNm3alCFDhmTs2LFJkieffDITJkzI+vXrM2DAgEyZMiVdunTJsmXLMn78+KxcuTJ9+/bNtGnTsvPOO+f555/P+PHj88wzz6R79+6ZOnVqdtttt62al0tIAICiqazsnscen9rR0wBgO1W979i39SUk7R4wikrAAACKRsAA4F/xdg8YW3fnSwAAAIAOIGAAAAAAhSdgAAAAAIUnYAAAAACFJ2AAAAAAhSdgAAAAAIUnYAAAAACFJ2AAAAAAhSdgAAAAAIUnYAAAAACFJ2AAAAAAhSdgAAAAAIUnYAAAAACFJ2AAAAAAhSdgAAAAAIUnYAAAAACFJ2AAAAAAhSdgAAAAAIUnYAAAAACFJ2AAAAAAhSdgAAAAAIUnYAAAAACFJ2AAAAAAhSdgAAAAAIUnYAAAAACFJ2AAAAAAhSdgAAAAAIUnYAAAAACFJ2AAAAAAhSdgAAAAAIUnYAAAAACFJ2AAAAAAhSdgAAAAAIUnYAAAAACFJ2AAAAAAhSdgAAAAAIUnYAAAAACFJ2AAAAAAhSdgAAAAAIUnYAAAAACFJ2AAAAAAhSdgAAAAAIUnYAAAAACFJ2AAAAAAhSdgAAAAAIUnYAAAAACFJ2AAAAAAhSdgAAAAAIUnYAAAAACFJ2AAAAAAhdeuAWP9+vUZOXJknn322STJggULUltbmyFDhuTaa69tO+6JJ57IqFGjMnTo0Fx22WXZtGlTkmT58uUZPXp0hg0bljPPPDMbNmxIkqxduzannXZahg8fntGjR6exsbE9lwEAAAB0sHYLGL/5zW9y4oknZsmSJUmSF154IZdeemmmT5+eOXPmZPHixXnooYeSJOPGjcsVV1yRefPmpVQqZcaMGUmSiRMn5qSTTkp9fX0GDhyY6dOnJ0muu+66VFdXZ+7cuTn++ONz1VVXtdcyAAAAgAJot4AxY8aMXHnllamqqkqSPP7449lzzz2z++67p7y8PLW1tamvr8+yZcvywgsvZP/990+SjBo1KvX19Wlubs7ChQszdOjQzcaT5MEHH0xtbW2SZOTIkZk/f36am5vbaykAAABABytvryd+9a6IFStWpLKysu1xVVVVGhoaXjNeWVmZhoaGrF69Ot26dUt5eflm469+rvLy8nTr1i2rVq1K7969t3h+vXp1+6fXBgAAAEVUWdm9o6fQbtotYLxaa2trysrK2h6XSqWUlZW94fjLX1/p1Y9feU6nTlu3mWTlyvVpbS1t1TkAAO3p7fyhE4Bto7FxXUdP4V/SqVPZG2442GZ/haRPnz6b3WyzsbExVVVVrxlvampKVVVVevbsmXXr1qWlpWWz45OXdm80NTUlSTZt2pQNGzakR48e22opAAAAwDa2zQLGfvvtl6effjpLly5NS0tLZs+enZqamvTr1y9du3bNokWLkiSzZs1KTU1NKioqUl1dnTlz5iRJ6urqUlNTkyQZPHhw6urqkiRz5sxJdXV1KioqttVSAAAAgG1sm11C0rVr11x99dU599xz8+KLL2bw4MEZNmxYkmTq1KmZMGFC1q9fnwEDBuSUU05Jklx55ZUZP358brrppvTt2zfTpk1Lkpx//vkZP358RowYke7du2fq1KnbahkAAABABygrlUrvyBtBuAcGAFA0lZXd89jj/mEGgH9O9b5j3QMDAAAAoCMJGAAAAEDhCRgAAABA4QkYAAAAQOEJGAAAAEDhCRgAAABA4QkYAAAAQOEJGAAAAEDhCRgAAABA4QkYAAAAQOEJGAAAAEDhCRgAAABA4QkYAAAAQOEJGAAAAEDhCRgAAABA4QkYAAAAQOEJGAAAAEDhCRgAAABA4QkYAAAAQOEJGAAAAEDhCRgAAABA4QkYAAAAQOEJGAAAAEDhCRgAAABA4QkYAAAAQOEJGAAAAEDhCRgAAABA4QkYAAAAQOEJGAAAAEDhCRgAAABA4QkYAAAAQOEJGAAAAEDhCRgAAABA4QkYAAAAQOEJGAAAAEDhCRgAAABA4QkYAAAAQOEJGAAAAEDhCRgAAABA4QkYAAAAQOEJGAAAAEDhCRgAAABA4QkYAAAAQOEJGAAAAEDhCRgAAABA4QkYAAAAQOEJGAAAAEDhCRgAAABA4QkYAAAAQOEJGAAAAEDhlXfEi5588slZtWpVystfevkvfvGL2bBhQ6ZMmZIXX3wxw4cPz+c+97kkyRNPPJHLLrssGzZsSHV1dSZOnJjy8vIsX74848aNy8qVK7PXXntl6tSp2WmnnTpiOQAAAEA72+Y7MEqlUpYsWZJZs2a1/e/9739/Lr300kyfPj1z5szJ4sWL89BDDyVJxo0blyuuuCLz5s1LqVTKjBkzkiQTJ07MSSedlPr6+gwcODDTp0/f1ksBAAAAtpFtHjD+8pe/JEk+85nP5KMf/WjuvPPOPP7449lzzz2z++67p7y8PLW1tamvr8+yZcvywgsvZP/990+SjBo1KvX19Wlubs7ChQszdOjQzcYBAACAt6dtfgnJ2rVrc/DBB+fyyy9Pc3NzTjnllHz2s59NZWVl2zFVVVVpaGjIihUrNhuvrKxMQ0NDVq9enW7durVdgvLy+Nbo1avbW7OgDraxtTVdOrmVCQBbz+8QAHj7qazs3tFTaDfbPGAccMABOeCAA9oef/zjH8/111+fD33oQ21jpVIpZWVlaW1tTVlZ2WvGX/76Sq9+/I+sXLk+ra2lf3IVxVFZ2T1H/OIXHT0NALZDPx40KI2N6zp6GrzC2/lDJwDbxvb+u71Tp7I33HCwzf/Z5bHHHsvDDz/c9rhUKqVfv35pbGxsG2tsbExVVVX69Omz2XhTU1OqqqrSs2fPrFu3Li0tLZsdDwAAALw9bfOAsW7dulxzzTV58cUXs379+tx777258MIL8/TTT2fp0qVpaWnJ7NmzU1NTk379+qVr165ZtGhRkmTWrFmpqalJRUVFqqurM2fOnCRJXV1dampqtvVSAAAAgG1km19C8uEPfzi/+c1vcswxx6S1tTUnnXRSDjjggFx99dU599xz8+KLL2bw4MEZNmxYkmTq1KmZMGFC1q9fnwEDBuSUU05Jklx55ZUZP358brrppvTt2zfTpk3b1ksBAAAAtpGyUqm0/d8I4p/gHhgAvNO5B0bxVFZ2z2OPT+3oaQCwnared+x2/7u9UPfAAAAAANhaAgYAAABQeAIGAAAAUHgCBgAAAFB4AgYAAABQeAIGAAAAUHgCBgAAAFB4AgYAAABQeAIGAAAAUHgCBgAAAFB4AgYAAABQeAIGAAAAUHgCBgAAAFB4AgYAAABQeAIGAAAAUHgCBgAAAFB4AgYAAABQeAIGAAAAUHgCBgAAAFB4AgYAAABQeAIGAAAAUHgCBgAAAFB4AgYAAABQeAIGAAAAUHgCBgAAAFB4AgYAAABQeAIGAAAAUHgCBgAAAFB4AgYAAABQeAIGAAAAUHgCBgAAAFB4AgYAAABQeAIGAAAAUHgCBgAAAFB4AgYAAABQeAIGAAAAUHgCBgAAAFB4AgYAAABQeAIGAAAAUHgCBgAAAFB4AgYAAABQeAIGAAAAUHgCBgAAAFB4AgYAAABQeAIGAAAAUHgCBgAAAFB4AgYAAABQeAIGAAAAUHgCBgAAAFB4AgYAAABQeNt1wPjBD36Qo48+OkOGDMldd93V0dMBAAAA2kl5R0/gn9XQ0JBrr702M2fOTJcuXXLCCSfkoIMOyvve976OnhoAAADwFttuA8aCBQsyaNCg9OjRI0kydOjQ1NfX55xzztmi8zt1KmvH2W1bvbt27egpALCdejv9Pny76FLx7o6eAgDbse39d/ubzX+7DRgrVqxIZWVl2+Oqqqo8/vjjW3z+Lrvs1B7T6hDfPuCAjp4CANupXr26dfQUeJV9//tpHT0FALZjb+ff7dvtPTBaW1tTVvb/ykypVNrsMQAAAPD2sd0GjD59+qSxsbHtcWNjY6qqqjpwRgAAAEB72W4DxiGHHJKHH344q1atyt///vfcf//9qamp6ehpAQAAAO1gu70HRu/evfO5z30up5xySpqbm/Pxj388++67b0dPCwAAAGgHZaVSqdTRkwAAAAB4M9vtJSQAAADAO4eAAQAAABSegAEAAAAUnoABAAAAFJ6AAQAAABTedvtnVIHty/r16/O///f/zsKFC9O5c+e8+93vzvjx4zNgwIA88sgjueGGG/Ktb32rQ+Y2c+bMPProo7n66qtf87Pvf//7+drXvpaWlpZ06tQpw4YNy+mnn57y8vK0tLTktNNOy7PPPpuLL744N954YzZu3JivfOUr2WuvvTpgJQDQcZ599tkMGzYs/fv332z85ptvTt++fV/3nK985StJknPPPTfvf//789RTT23Rax1xxBHZYYcdUlFRkVKplPLy8lx88cUZNGjQG57z7W9/O0ly4oknbjb+Zp8DgGIRMIB219ramlNPPTUHHXRQ6urqUl5enl/84hc59dRTc99993X09N7QzJkzc/vtt+fGG2/MHnvskfXr12f8+PG54oorMnny5DQ0NOSpp57Kz372syxcuDBdunTJzJkzO3raANBhqqqqMmvWrG3yWrfeemt22223JMmPf/zjjB07Nj/72c/e8PhXhwtg+yNgAO3ukUceyXPPPZfzzjsvnTq9dOXaoEGDMmXKlLS2tiZJVq1alVNPPTX/9V//lb322ivXX399unTpkmuvvTYPP/xw1qxZk6qqqlx77bXZddddM2jQoAwcODCNjY25++67c/3112fevHnZZZddUllZmSOOOCKjRo1KXV1d7rjjjrS2tmbAgAG58sor07Vr19TV1eWmm25Kt27d0q9fv+y4446vmfcNN9yQKVOmZI899kiSdOvWLVdddVUOO+ywnH322TnjjDPy/PPP5yMf+Ug6deqUpqamnHHGGbn55pu33ZsLANuB8ePH58ADD8yoUaOS5A13W7S2tubII4/Mbbfdlr322it/+9vfMnz48Nx///3p2rXrGz7/QQcdlMbGxqxevTqNjY350pe+lL/97W9ZtWpVTjvttJx44omb7fbYks8BQPG4BwbQ7n7/+99nn332aYsXLxs8eHB69eqVJFm+fHmuuOKKzJ07N01NTVmwYEGWLl2av/zlL/nOd76TefPmpW/fvvn+97+fJFm9enVOPfXUzJo1Kz/96U+zaNGizJ49O7feemt+//vfJ0n++Mc/ZsaMGfnOd76TWbNmpVevXrntttvS0NCQqVOn5q677sp3v/vdbNiw4TVzXrVqVZYtW5Z99913s/Gdd94573vf+/K73/0uN910U6qqqvKjH/0okyZNysCBA8ULAN7RVqxYkY997GNt//va1762Ved36tQpxxxzTNvv+/vvvz+HH374m8aLJJk9e3be+973Zpdddsn3vve9nHXWWbnnnnvyzW9+M9dcc81mx27J5wCgmOzAANpdp06d/uEHj3322Se77757kqR///5ZvXp1Dj/88Hz+85/P9773vTz99NP59a9/3bYbIkn222+/JMmCBQsyfPjwdOnSJV26dMmRRx6Z5KWdH0uXLs3/+l//K0nS3NycD3zgA/nVr36VAw44ILvuumuSpLa2Nr/4xS9ed14tLS2vGWtubk5ZWdlWvgsA8Pb3VlxCMmrUqHz605/O+eefn3vvvTcXXnjh6x532mmnpaKiIs3Nzenbt2+uu+66JC/t9vjpT3+aW265JX/4wx/yt7/9bbPztuZzAFAsAgbQ7gYOHJj/+3//b0ql0mb/4T9t2rQccsghKSsrS3n5//u/o7KyspRKpSxevDgXXXRRxowZk6FDh6ZTp04plUptx+2www5JXgokL1+K8kotLS0ZPnx4JkyYkCTZsGFDWlpa8vDDD2/2PK987Zf17Nkze+yxR371q1/lsMMOaxtftWpVnnnmmXzgAx/Y7DkAgDf28u/25KV/CHgzu+22W97znvfk/vvvz8qVK9v+weLVXnkPjFe64IIL8u53vzsf/vCHc/TRR2f27NlvOJfk9T8HAMXkEhKg3VVXV6dXr1654YYb2nY0/PSnP83MmTPzvve97w3PW7hwYQ488MCceOKJee9735sHH3zwdXdEHHLIIbn//vuzcePGrF+/Pg8++GDKyspy0EEH5YEHHsjKlStTKpXyhS98IXfccUc+9KEP5de//nUaGhrS2tqaOXPmvO7rX3DBBZk8eXKeeeaZJC8FkAkTJuToo49Ov3793oJ3BgDeGXr06JE//elPSZIf/vCH//D44447LpMmTcpHP/rRrX6tn//85znvvPNy5JFHZv78+Uk231G5pZ8DgOKRG4F2V1ZWlunTp2fKlCkZOXJkysvLs8suu+TWW2/Nrrvumj//+c+ve97RRx+dc845J7W1tUle2snx7LPPvua4ww8/PL/61a9y7LHHZuedd05VVVW6du2affbZJ+ecc04+9alPpbW1Nf/9v//3nHbaaenatWsmTJiQMWPG5F3vetcbRpQRI0akc+fOOf/887Nx48a0tLRkxIgROeOMM966NwcA3gFOPPHEXHDBBamtrc2gQYNSWVn5pscPGTIkl19+eT72sY9t9Wude+65Oemkk9o+C/Tr12+zzw+77rrrFn0OAIqnrGQPNLCd+9WvfpUlS5bk2GOPTXNzcz7xiU9k8uTJ2WeffTp6agDAViqVSpk/f36+/e1vuzk2sBk7MIDt3l577ZUbbrght99+e0qlUo455hjxAgC2U5MnT85PfvKTfPWrX+3oqQAFYwcGAAAAUHhu4gkAAAAUnoABAAAAFJ6AAQAAABSegAEAvGUeeeSRjBw5sqOnkSSZMGFCFi9e/JYdBwB0LAEDAHhbWrBgQbbkXuVbehwA0LH8GVUA4C23bt26TJw4MU8++WTKyspy2GGH5cILL0x5eXnuvvvufPe7301zc3PWrFmTU089NSeddFJmzpyZBx54IJ06dcrSpUuzww475D//8z/Tv3//N3ydTZs25Utf+lJ++ctfpqKiIrvttlumTJmSW2+9NStWrMjYsWNzzTXXpFQq5ctf/nI2btyYxsbGHHLIIZk8eXKuvfbazY6bOnVqRo8enWHDhiVJTj755LbH119/fR544IFUVFRkl112yZQpU1JVVbWt3lIAeMezAwMAeMtNmjQpPXr0yA9+8IPcc889eeqpp/L1r389GzZsyPe+973ceuutqaury7XXXpsvf/nLbectXLgwl19+eWbPnp399tsvt95665u+zq9//es8+uij+f73v5+ZM2dm9913z1NPPZXPfe5zqaqqytSpU7Pffvvlm9/8Zs4777x873vfy3333Zcf//jHWbx48WuOeyPPPfdc7rjjjtxzzz2ZOXNm/uf//J95/PHH37L3CwD4x+zAAADecvPnz8+3v/3tlJWVpUuXLjnhhBNyxx135LTTTsvNN9+chx56KEuWLMmTTz6Zv/3tb23nDRgwIH369EmSfOADH8gDDzzwpq/z3/7bf0vnzp1z/PHH59BDD83QoUOz7777vua4q6++OvPnz8/NN9+cv/zlL3nxxRc3e91/pHfv3tlnn31y7LHHpqamJjU1NTn44IO3+HwA4F9nBwYA8JZrbW1NWVnZZo83bdqUv/71rznmmGOybNmyfOhDH8oFF1yw2Xk77LBD2/dlZWX/8N4U7373uzNr1qx8/vOfT+fOnXPBBRfkrrvues1xn/zkJ/PQQw/l3/7t33L22WenqqrqDZ/7lePNzc1Jkk6dOuXOO+/MlClT0qNHj0yePDnXXHPNP3wfAIC3joABALzlDj300Nx5550plUrZuHFjZsyYkUMOOSSLFy9Oz549c9ZZZ+XQQw/NT37ykyRJS0vLP/U6P/nJTzJmzJgccMABOffcc3PMMce0/UWRzp07Z9OmTVm7dm1++9vfZuzYsRkyZEj++te/5r/+67/S2tq62XFJ0rNnz7bz//SnP+Wpp55Kkjz55JMZOXJk+vfvn9NPPz1jxozJb3/723/pPQIAto5LSACAt9yECRMyadKk1NbWprm5OYcddljOOOOMtLS05O67786wYcNSVlaWAw88MD179szSpUv/qdepqanJ/PnzM3LkyOy4447Zeeed86UvfSlJctRRR2XcuHH5whe+kNNOOy3HHntsdtxxx/Tu3Tsf/OAHs3Tp0hx88MGbHXfmmWdm/Pjxbbs1qqurkyT77LNPhg8fnuOOOy477rhjdthhh0yYMOEte78AgH+srOTvhgEAAAAFZwcGAFBokydPziOPPPK6P7vkkksyaNCgbTwjAKAj2IEBAAAAFJ6beAIAAACFJ2AAAAAAhSdgAAAAAIUnYAAAAACFJ2AAAAAAhff/AYT4YqRKsL5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6" name="AutoShape 4" descr="data:image/png;base64,iVBORw0KGgoAAAANSUhEUgAABDAAAAG7CAYAAAA122WqAAAAOXRFWHRTb2Z0d2FyZQBNYXRwbG90bGliIHZlcnNpb24zLjMuMiwgaHR0cHM6Ly9tYXRwbG90bGliLm9yZy8vihELAAAACXBIWXMAAAsTAAALEwEAmpwYAAA1AUlEQVR4nO3de5yVZcHv/+/ADJhCIjgDhId8yJ072B5qHkW3DmbKQZhSzJ1KGvXk+ZiCoaJGIfgYG92meCgzS3dFikMhDNpBqTBFOhildhIeBRtmADmVMsys3x/+nC2egnKYG32/X69eM+ua+17rutYfzfLDdd9TViqVSgEAAAAosE4dPQEAAACAf0TAAAAAAApPwAAAAAAKT8AAAAAACk/AAAAAAApPwAAAAAAKT8AAAArnhRdeSFNT0xYd29LSkueee66dZ9T+3i7rAID2ImAAwDvQs88+m/e///1Zu3ZtR0/ldX3yk5/Mr3/96y069sILL8y8efPad0LbwNtlHQDQXgQMAKBwVq1a1S7HFtnbZR0A0F4EDAAgCxYsyHHHHZcPfvCDqa2tTX19fdvPnnrqqXzmM5/JoYcemv322y+f+tSnsnz58iTJV77ylVx00UU588wzc8ABB+Too4/OD3/4wy16zQcffDAjRoxIdXV1amtrU1dXlyQ5++yzs3z58lx44YX56le/mlKplBtuuCHDhw/PAQcckJqamnzjG99Iklx11VV57LHHMnXq1Hzxi1/MI488kurq6s1e54gjjmib0z333JMjjzwy//7v/57jjjsu8+fPf925bdy4Mddcc00OOeSQHHjggbnggguyfv36JMnixYtz8sknp7q6OkOHDs1dd93Vdt7JJ5/cNrckmTlzZj72sY+1ff/pT386l1xyST70oQ/lyCOPzHe+853XXQcA8FoCBgC8w/3xj3/M6aefnv/4j//Io48+mksvvTSXXHJJFi1alCQ577zzcsghh2T+/Pn56U9/mtbW1nz1q19tO3/u3Ln5xCc+kUcffTTDhg3LF77whZRKpTd9zdbW1owdOzYXX3xxHnvssVxyySWZNGlSNmzYkBtvvDHvec97Mm3atJx66qmZPXt2Zs2alW984xv55S9/mSuvvDLXXHNNVqxYkcsuuyzV1dUZO3Zsrrjiijd9zVWrVuXyyy/PTTfdlIULF+aEE07IpEmTXneuN9xwQ37+85/n7rvvzoMPPpi///3v+c///M+sWrUqY8aMyRFHHJGHH34406ZNy0033ZTZs2dv0Xu9YMGC7LfffnnkkUdy+umn56qrrsratWu3ah0A8E4lYADAO9x9992Xgw46KEcffXTKy8tz8MEHp7a2Nvfee2+S5Ktf/WrGjBmT5ubm/PWvf80uu+ySFStWtJ3/P/7H/8jhhx+eioqKfPSjH01jY2M2bNjwpq/ZqVOn7LTTTrnvvvvy2GOP5cADD8yjjz6anXba6TXHfvjDH85dd92V3r17p6mpKRUVFWlpadnqSy66dOmS8vLy3H333fntb3+bUaNGZd68eSkrK3vNsT/4wQ9yxhln5D3veU923HHHTJo0KWPGjMmPfvSjVFZW5tOf/nQqKioyYMCAnHLKKbnnnnu2aA6VlZU54YQTUl5enmOOOSYbN250404A2EICBgC8w61atSrvec97Nhvbbbfd2v7DevHixamtrc1HPvKRTJkyJStWrNhs10KvXr3avi8vL0/y0g6Lf+TrX/96Nm7cmLPOOisHHXRQrr766jQ3N7/muE2bNmXKlCk56KCD8pnPfKbtRpf/aJfHq3Xr1i133HFHli5dmlNOOSWHHnpobrnlltd9nqamps3ek8rKyvTv3/9136t+/fptcYR45XtVUVGRZMveKwAgKe/oCQAAHatv37557LHHNht75plnsuuuu6ahoSFjx47NnXfemQ9+8INJkkmTJrXdA+Of9fe//z0rVqzIddddl9bW1vzyl7/MeeedlwEDBrTdM+Jl06ZNy4svvpiHHnooO+ywQ9asWZO77777dZ+3c+fOm0WQUqmUNWvWJEnWrFmTlpaW3HzzzWlubs7Pf/7znHvuuamurn7NfTN69+6dv/71r9lvv/2SJH/605/y4x//OH379n3N2l9+r5KXdpa88vWff/75f+4NAgBeww4MAHiHO/roo/PYY49lzpw5aWlpycMPP5wf/OAHqa2tzfr161MqlbLDDjskSR5++OHMmjXrdXdKbI2WlpaceeaZue+++1JWVpY+ffqkrKwsPXr0SPLS7oR169YlSdatW5euXbumc+fOWbNmTSZPnpwkbXPo0qVL2w0299hjj2zcuLFtLXfccUfb5SyrVq1qu89HRUVFevfunbKysuy8886vmV9tbW1uueWWNDQ0ZMOGDZk2bVqeffbZDB48OKtXr843vvGNNDc35/e//32+9a1vpba2Nkny3ve+Nz/84Q+zdu3aLF++PDNnztzi9+SV6wAAXkvAAIB3uD333DPTp0/P1772tVRXV2fixImZOHFiDj300PTv3z/nnXde/uM//iP//u//nmuvvTYnnnhi/vznP2/1JRyv1K1bt1x//fW55ZZb8sEPfjAnnnhiRo8encGDBydJRo0alYkTJ2batGk5//zz89xzz+XAAw9MbW1tdtlll7z//e/PH/7whyQvxYavf/3rueiii1JVVZUJEybky1/+cgYNGpRnn322befIXnvtlYkTJ+byyy/PAQcckLPPPjsTJkzI3nvv/Zr5nXnmmTnooINy/PHH54gjjshOO+2Uz3/+89l5553zta99LT/84Q8zaNCgnHPOOfnsZz+bT3ziE0mSs846K926dcvhhx+eM844Ix/96Ee3+D155ToAgNcqK/0rnz4AAAAAtgE7MAAAAIDCcxNPAOAt9/vf/z6jR49+w5+fddZZOfXUU7fhjACA7Z1LSAAAAIDCcwkJAAAAUHgCBgAAAFB479h7YKxevSGtra6eAQAAgKLo1Kksu+yy0+v+7B0bMFpbSwIGAAAAbCdcQgIAAAAUnoABAAAAFJ6AAQAAABSegAEAAAAUnoABAAAAFJ6AAQAAABSegAEAAAAUnoABAAAAFJ6AAQAAABSegAEAAAAUnoABAAAAFJ6AAQAAABSegAEAAAAUnoABAAAAFJ6AAQAAABReeUdPAACAl+yyyw4pL6/o6GkAsJ3atKk5q1e/0NHTaDcCBgBAQZSXV+Sxx6d29DQA2E5V7zs2yds3YLiEBAAAACg8AQMAAAAoPAEDAAAAKLx2DRj/5//8nxx99NEZMWJEbr/99iTJggULUltbmyFDhuTaa69tO/aJJ57IqFGjMnTo0Fx22WXZtGlTkmT58uUZPXp0hg0bljPPPDMbNmxIkqxduzannXZahg8fntGjR6exsbE9lwIAAAB0oHYLGI8++mh+8Ytf5Pvf/37uueeefOtb38qTTz6ZSy+9NNOnT8+cOXOyePHiPPTQQ0mScePG5Yorrsi8efNSKpUyY8aMJMnEiRNz0kknpb6+PgMHDsz06dOTJNddd12qq6szd+7cHH/88bnqqqvaaykAAABAB2u3gHHggQfmm9/8ZsrLy7Ny5cq0tLRk7dq12XPPPbP77runvLw8tbW1qa+vz7Jly/LCCy9k//33T5KMGjUq9fX1aW5uzsKFCzN06NDNxpPkwQcfTG1tbZJk5MiRmT9/fpqbm9trOQAAAEAHatc/o1pRUZHrr78+X//61zNs2LCsWLEilZWVbT+vqqpKQ0PDa8YrKyvT0NCQ1atXp1u3bikvL99sPMlm55SXl6dbt25ZtWpVevfuvUVz69Wr21u1TAAAACiEysruHT2FdtOuASNJzjvvvJx66qk544wzsmTJkpSVlbX9rFQqpaysLK2tra87/vLXV3r141ee06nTlm8oWblyfVpbS1u5GgCA9vN2/tAJwLbR2Liuo6fwL+nUqewNNxy02yUkf/7zn/PEE08kSd71rndlyJAheeSRRza72WZjY2OqqqrSp0+fzcabmppSVVWVnj17Zt26dWlpadns+OSl3RtNTU1Jkk2bNmXDhg3p0aNHey0HAAAA6EDtFjCeffbZTJgwIRs3bszGjRvzox/9KCeccEKefvrpLF26NC0tLZk9e3ZqamrSr1+/dO3aNYsWLUqSzJo1KzU1NamoqEh1dXXmzJmTJKmrq0tNTU2SZPDgwamrq0uSzJkzJ9XV1amoqGiv5QAAAAAdqN0uIRk8eHAef/zxHHPMMencuXOGDBmSESNGpGfPnjn33HPz4osvZvDgwRk2bFiSZOrUqZkwYULWr1+fAQMG5JRTTkmSXHnllRk/fnxuuumm9O3bN9OmTUuSnH/++Rk/fnxGjBiR7t27Z+rUqe21FAAAAKCDlZVKpXfkjSDcAwMAKJrKyu557HH/KAPAP6d637HugQEAAADQkQQMAAAAoPAEDAAAAKDwBAwAAACg8AQMAAAAoPAEDAAAAKDwBAwAAACg8AQMAAAAoPAEDAAAAKDwBAwAAACg8AQMAAAAoPAEDAAAAKDwBAwAAACg8AQMAAAAoPAEDAAAAKDwBAwAAACg8AQMAAAAoPAEDAAAAKDwBAwAAACg8AQMAAAAoPAEDAAAAKDwBAwAAACg8AQMAAAAoPAEDAAAAKDwBAwAAACg8AQMAAAAoPAEDAAAAKDwBAwAAACg8AQMAAAAoPAEDAAAAKDwBAwAAACg8AQMAAAAoPAEDAAAAKDwBAwAAACg8AQMAAAAoPAEDAAAAKDwBAwAAACg8AQMAAAAoPAEDAAAAKDwBAwAAACg8AQMAAAAoPAEDAAAAKDwBAwAAACg8AQMAAAAoPAEDAAAAKDwBAwAAACg8AQMAAAAoPAEDAAAAKDwBAwAAACg8AQMAAAAoPDK2/PJb7jhhsydOzdJMnjw4Fx88cW55JJLsmjRorzrXe9Kkpxzzjk56qij8sQTT+Syyy7Lhg0bUl1dnYkTJ6a8vDzLly/PuHHjsnLlyuy1116ZOnVqdtppp6xduzZjx47NM888k549e+a6665LZWVley4HAAAA6CDttgNjwYIF+dnPfpZ77703dXV1+d3vfpcHHnggixcvzp133plZs2Zl1qxZOeqoo5Ik48aNyxVXXJF58+alVCplxowZSZKJEyfmpJNOSn19fQYOHJjp06cnSa677rpUV1dn7ty5Of7443PVVVe111IAAACADtZuAaOysjLjx49Ply5dUlFRkf79+2f58uVZvnx5Lr300tTW1ub6669Pa2trli1blhdeeCH7779/kmTUqFGpr69Pc3NzFi5cmKFDh242niQPPvhgamtrkyQjR47M/Pnz09zc3F7LAQAAADpQu11Csvfee7d9v2TJksydOzd33XVXHn300Vx55ZXp3r17Tj/99Nx9993Ze++9N7v8o7KyMg0NDVm9enW6deuW8vLyzcaTZMWKFW3nlJeXp1u3blm1alV69+69RfPr1avbW7VUAAAAKITKyu4dPYV20673wEiSP/7xjzn99NNz8cUX59/+7d9y4403tv3s5JNPTl1dXfr375+ysrK28VKplLKysravr/Tqx688p1OnLd9QsnLl+rS2lrZyNQAA7eft/KETgG2jsXFdR0/hX9KpU9kbbjho179CsmjRoowZMyYXXXRRjj322Dz11FOZN29e289LpVLKy8vTp0+fNDY2to03NTWlqqoqPXv2zLp169LS0pIkaWxsTFVVVZKkqqoqTU1NSZJNmzZlw4YN6dGjR3suBwAAAOgg7RYwnnvuuZx99tmZOnVqRowYkeSlYDF58uSsWbMmzc3N+e53v5ujjjoq/fr1S9euXbNo0aIkyaxZs1JTU5OKiopUV1dnzpw5SZK6urrU1NQkeemvmtTV1SVJ5syZk+rq6lRUVLTXcgAAAIAOVFYqldrlOopJkyblnnvuyR577NE2dsIJJ6S1tTV33XVXNm3alCFDhmTs2LFJkieffDITJkzI+vXrM2DAgEyZMiVdunTJsmXLMn78+KxcuTJ9+/bNtGnTsvPOO+f555/P+PHj88wzz6R79+6ZOnVqdtttty2en0tIAICiqazsnscen9rR0wBgO1W979i39SUk7RYwik7AAACKRsAA4F/xdg8Y7XoPDAAAAIC3goABAAAAFJ6AAQAAABSegAEAAAAUnoABAAAAFJ6AAQAAABSegAEAAAAUnoABAAAAFJ6AAQAAABSegAEAAAAUnoABAAAAFJ6AAQAAABSegAEAAAAUnoABAAAAFJ6AAQAAABSegAEAAAAUnoABAAAAFJ6AAQAAABSegAEAAAAUnoABAAAAFJ6AAQAAABSegAEAAAAUnoABAAAAFJ6AAQAAABSegAEAAAAUnoABAAAAFJ6AAQAAABSegAEAAAAUnoABAAAAFJ6AAQAAABSegAEAAAAUnoABAAAAFJ6AAQAAABSegAEAAAAUnoABAAAAFJ6AAQAAABSegAEAAAAUnoABAAAAFJ6AAQAAABSegAEAAAAUnoABAAAAFJ6AAQAAABSegAEAAAAUnoABAAAAFJ6AAQAAABSegAEAAAAUnoABAAAAFJ6AAQAAABSegAEAAAAUnoABAAAAFF67BowbbrghI0aMyIgRI3LNNdckSRYsWJDa2toMGTIk1157bduxTzzxREaNGpWhQ4fmsssuy6ZNm5Iky5cvz+jRozNs2LCceeaZ2bBhQ5Jk7dq1Oe200zJ8+PCMHj06jY2N7bkUAAAAoAO1W8BYsGBBfvazn+Xee+9NXV1dfve732X27Nm59NJLM3369MyZMyeLFy/OQw89lCQZN25crrjiisybNy+lUikzZsxIkkycODEnnXRS6uvrM3DgwEyfPj1Jct1116W6ujpz587N8ccfn6uuuqq9lgIAAAB0sHYLGJWVlRk/fny6dOmSioqK9O/fP0uWLMmee+6Z3XffPeXl5amtrU19fX2WLVuWF154Ifvvv3+SZNSoUamvr09zc3MWLlyYoUOHbjaeJA8++GBqa2uTJCNHjsz8+fPT3NzcXssBAAAAOlB5ez3x3nvv3fb9kiVLMnfu3Hzyk59MZWVl23hVVVUaGhqyYsWKzcYrKyvT0NCQ1atXp1u3bikvL99sPMlm55SXl6dbt25ZtWpVevfuvUXz69Wr27+8RgAAACiSysruHT2FdtNuAeNlf/zjH3P66afn4osvTufOnbNkyZK2n5VKpZSVlaW1tTVlZWWvGX/56yu9+vErz+nUacs3lKxcuT6traWtWwwAQDt6O3/oBGDbaGxc19FT+Jd06lT2hhsO2vUmnosWLcqYMWNy0UUX5dhjj02fPn02u9lmY2NjqqqqXjPe1NSUqqqq9OzZM+vWrUtLS8tmxycv7d5oampKkmzatCkbNmxIjx492nM5AAAAQAdpt4Dx3HPP5eyzz87UqVMzYsSIJMl+++2Xp59+OkuXLk1LS0tmz56dmpqa9OvXL127ds2iRYuSJLNmzUpNTU0qKipSXV2dOXPmJEnq6upSU1OTJBk8eHDq6uqSJHPmzEl1dXUqKiraazkAAABAByorlUrtch3FpEmTcs8992SPPfZoGzvhhBPy3ve+N1OmTMmLL76YwYMH55JLLklZWVmefPLJTJgwIevXr8+AAQMyZcqUdOnSJcuWLcv48eOzcuXK9O3bN9OmTcvOO++c559/PuPHj88zzzyT7t27Z+rUqdltt922eH4uIQEAiqaysnsee3xqR08DgO1U9b5j39aXkLRbwCg6AQMAKBoBA4B/xds9YLTrPTAAAAAA3goCBgAAAFB4AgYAAABQeAIGAAAAUHgCBgAAAFB4AgYAAABQeAIGAAAAUHgCBgAAAFB4AgYAAABQeAIGAAAAUHgCBgAAAFB4AgYAAABQeAIGAAAAUHgCBgAAAFB4AgYAAABQeAIGAAAAUHgCBgAAAFB4AgYAAABQeAIGAAAAUHgCBgAAAFB4AgYAAABQeAIGAAAAUHgCBgAAAFB4AgYAAABQeAIGAAAAUHgCBgAAAFB4AgYAAABQeAIGAAAAUHhbFDAaGhpeM/anP/3pLZ8MAAAAwOt504Dx/PPP5/nnn8+pp56aNWvWtD1uamrKOeecs63mCAAAALzDlb/ZDy+66KL8/Oc/T5IcdNBB/++k8vIMHTq0fWcGAAAA8P9704Bx2223JUkuueSSTJkyZZtMCAAAAODV3jRgvGzKlClZtmxZ1qxZk1Kp1DY+YMCAdpsYAAAAwMu2KGBcf/31ue2229KrV6+2sbKysvzoRz9qt4kBAAAAvGyLAkZdXV3uv//+9O7du73nAwAAAPAaW/RnVPv27SteAAAAAB1mi3ZgHHzwwbnmmmvykY98JDvssEPbuHtgAAAAANvCFgWMmTNnJknq6+vbxtwDAwAAANhWtihg/PjHP27veQAAAAC8oS0KGLfffvvrjn/6059+SycDAAAA8Hq2KGD84Q9/aPt+48aNWbhwYQ4++OB2mxQAAADAK21RwJgyZcpmjxsaGnLZZZe1y4QAAAAAXm2L/ozqq/Xu3TvLli17q+cCAAAA8Lq2+h4YpVIpixcvTq9evdptUgAAAACvtNX3wEiSvn375uKLL26XCQEAAAC82lbdA2PZsmXZtGlT9txzz3adFAAAAMArbVHAWLp0ac4666ysWLEira2t2WWXXXLLLbekf//+7T0/AAAAgC27iecXv/jFfPazn83ChQuzaNGinHnmmZk4cWJ7zw0AAAAgyRYGjJUrV+bYY49te3zcccdl9erV7TYpAAAAgFfaooDR0tKS559/vu3xqlWr2ms+AAAAAK+xRffA+OQnP5lPfOITGT58eMrKyjJnzpx86lOf+ofnrV+/PieccEJuvvnm7LbbbrnkkkuyaNGivOtd70qSnHPOOTnqqKPyxBNP5LLLLsuGDRtSXV2diRMnpry8PMuXL8+4ceOycuXK7LXXXpk6dWp22mmnrF27NmPHjs0zzzyTnj175rrrrktlZeW/9k4AAAAAhbVFOzAGDx6cJGlubs6f//znNDQ05KijjnrTc37zm9/kxBNPzJIlS9rGFi9enDvvvDOzZs3KrFmz2p5j3LhxueKKKzJv3ryUSqXMmDEjSTJx4sScdNJJqa+vz8CBAzN9+vQkyXXXXZfq6urMnTs3xx9/fK666qqtXjgAAACw/diigDF+/PiMHj0648aNy5e//OVccMEFufTSS9/0nBkzZuTKK69MVVVVkuTvf/97li9fnksvvTS1tbW5/vrr09rammXLluWFF17I/vvvnyQZNWpU6uvr09zcnIULF2bo0KGbjSfJgw8+mNra2iTJyJEjM3/+/DQ3N/9TbwAAAABQfFt0Ccnq1atzyimnJEm6du2aMWPGpK6u7k3PefWuiKampgwaNChXXnllunfvntNPPz1333139t57780u/6isrExDQ0NWr16dbt26pby8fLPxJFmxYkXbOeXl5enWrVtWrVqV3r17b9mqk/Tq1W2LjwUAAIDtQWVl946eQrvZooDR0tKShoaGtkDQ1NSUUqm0VS+0++6758Ybb2x7fPLJJ6euri79+/dPWVlZ23ipVEpZWVnb11d69eNXntOp0xZtJmmzcuX6tLZu3RoAANrT2/lDJwDbRmPjuo6ewr+kU6eyN9xwsEUBY8yYMTnmmGNy2GGHpaysLAsWLMjFF1+8VZN46qmnsmTJkrZLQkqlUsrLy9OnT580Nja2HdfU1JSqqqr07Nkz69atS0tLSzp37pzGxsa2y1GqqqrS1NSUPn36ZNOmTdmwYUN69OixVfMBAAAAth9btG3h4x//eG6//fZ84AMfyMCBA3Pbbbe13YNiS5VKpUyePDlr1qxJc3Nzvvvd7+aoo45Kv3790rVr1yxatChJMmvWrNTU1KSioiLV1dWZM2dOkqSuri41NTVJXrqp6MuXsMyZMyfV1dWpqKjYqvkAAAAA24+y0tZeC7KVjjjiiHzzm9/Mbrvtlrvuuit33XVXNm3alCFDhmTs2LFJkieffDITJkzI+vXrM2DAgEyZMiVdunTJsmXLMn78+KxcuTJ9+/bNtGnTsvPOO+f555/P+PHj88wzz6R79+6ZOnVqdtttt62al0tIAICiqazsnscen9rR0wBgO1W979i39SUk7R4wikrAAACKRsAA4F/xdg8YW3fnSwAAAIAOIGAAAAAAhSdgAAAAAIUnYAAAAACFJ2AAAAAAhSdgAAAAAIUnYAAAAACFJ2AAAAAAhSdgAAAAAIUnYAAAAACFJ2AAAAAAhSdgAAAAAIUnYAAAAACFJ2AAAAAAhSdgAAAAAIUnYAAAAACFJ2AAAAAAhSdgAAAAAIUnYAAAAACFJ2AAAAAAhSdgAAAAAIUnYAAAAACFJ2AAAAAAhSdgAAAAAIUnYAAAAACFJ2AAAAAAhSdgAAAAAIUnYAAAAACFJ2AAAAAAhSdgAAAAAIUnYAAAAACFJ2AAAAAAhSdgAAAAAIUnYAAAAACFJ2AAAAAAhSdgAAAAAIUnYAAAAACFJ2AAAAAAhSdgAAAAAIUnYAAAAACFJ2AAAAAAhSdgAAAAAIUnYAAAAACFJ2AAAAAAhSdgAAAAAIUnYAAAAACFJ2AAAAAAhSdgAAAAAIUnYAAAAACFJ2AAAAAAhdeuAWP9+vUZOXJknn322STJggULUltbmyFDhuTaa69tO+6JJ57IqFGjMnTo0Fx22WXZtGlTkmT58uUZPXp0hg0bljPPPDMbNmxIkqxduzannXZahg8fntGjR6exsbE9lwEAAAB0sHYLGL/5zW9y4oknZsmSJUmSF154IZdeemmmT5+eOXPmZPHixXnooYeSJOPGjcsVV1yRefPmpVQqZcaMGUmSiRMn5qSTTkp9fX0GDhyY6dOnJ0muu+66VFdXZ+7cuTn++ONz1VVXtdcyAAAAgAJot4AxY8aMXHnllamqqkqSPP7449lzzz2z++67p7y8PLW1tamvr8+yZcvywgsvZP/990+SjBo1KvX19Wlubs7ChQszdOjQzcaT5MEHH0xtbW2SZOTIkZk/f36am5vbaykAAABABytvryd+9a6IFStWpLKysu1xVVVVGhoaXjNeWVmZhoaGrF69Ot26dUt5eflm469+rvLy8nTr1i2rVq1K7969t3h+vXp1+6fXBgAAAEVUWdm9o6fQbtotYLxaa2trysrK2h6XSqWUlZW94fjLX1/p1Y9feU6nTlu3mWTlyvVpbS1t1TkAAO3p7fyhE4Bto7FxXUdP4V/SqVPZG2442GZ/haRPnz6b3WyzsbExVVVVrxlvampKVVVVevbsmXXr1qWlpWWz45OXdm80NTUlSTZt2pQNGzakR48e22opAAAAwDa2zQLGfvvtl6effjpLly5NS0tLZs+enZqamvTr1y9du3bNokWLkiSzZs1KTU1NKioqUl1dnTlz5iRJ6urqUlNTkyQZPHhw6urqkiRz5sxJdXV1KioqttVSAAAAgG1sm11C0rVr11x99dU599xz8+KLL2bw4MEZNmxYkmTq1KmZMGFC1q9fnwEDBuSUU05Jklx55ZUZP358brrppvTt2zfTpk1Lkpx//vkZP358RowYke7du2fq1KnbahkAAABABygrlUrvyBtBuAcGAFA0lZXd89jj/mEGgH9O9b5j3QMDAAAAoCMJGAAAAEDhCRgAAABA4QkYAAAAQOEJGAAAAEDhCRgAAABA4QkYAAAAQOEJGAAAAEDhCRgAAABA4QkYAAAAQOEJGAAAAEDhCRgAAABA4QkYAAAAQOEJGAAAAEDhCRgAAABA4QkYAAAAQOEJGAAAAEDhCRgAAABA4QkYAAAAQOEJGAAAAEDhCRgAAABA4QkYAAAAQOEJGAAAAEDhCRgAAABA4QkYAAAAQOEJGAAAAEDhCRgAAABA4QkYAAAAQOEJGAAAAEDhCRgAAABA4QkYAAAAQOEJGAAAAEDhCRgAAABA4QkYAAAAQOEJGAAAAEDhCRgAAABA4QkYAAAAQOEJGAAAAEDhCRgAAABA4QkYAAAAQOEJGAAAAEDhCRgAAABA4QkYAAAAQOEJGAAAAEDhCRgAAABA4QkYAAAAQOEJGAAAAEDhCRgAAABA4QkYAAAAQOEJGAAAAEDhlXfEi5588slZtWpVystfevkvfvGL2bBhQ6ZMmZIXX3wxw4cPz+c+97kkyRNPPJHLLrssGzZsSHV1dSZOnJjy8vIsX74848aNy8qVK7PXXntl6tSp2WmnnTpiOQAAAEA72+Y7MEqlUpYsWZJZs2a1/e/9739/Lr300kyfPj1z5szJ4sWL89BDDyVJxo0blyuuuCLz5s1LqVTKjBkzkiQTJ07MSSedlPr6+gwcODDTp0/f1ksBAAAAtpFtHjD+8pe/JEk+85nP5KMf/WjuvPPOPP7449lzzz2z++67p7y8PLW1tamvr8+yZcvywgsvZP/990+SjBo1KvX19Wlubs7ChQszdOjQzcYBAACAt6dtfgnJ2rVrc/DBB+fyyy9Pc3NzTjnllHz2s59NZWVl2zFVVVVpaGjIihUrNhuvrKxMQ0NDVq9enW7durVdgvLy+Nbo1avbW7OgDraxtTVdOrmVCQBbz+8QAHj7qazs3tFTaDfbPGAccMABOeCAA9oef/zjH8/111+fD33oQ21jpVIpZWVlaW1tTVlZ2WvGX/76Sq9+/I+sXLk+ra2lf3IVxVFZ2T1H/OIXHT0NALZDPx40KI2N6zp6GrzC2/lDJwDbxvb+u71Tp7I33HCwzf/Z5bHHHsvDDz/c9rhUKqVfv35pbGxsG2tsbExVVVX69Omz2XhTU1OqqqrSs2fPrFu3Li0tLZsdDwAAALw9bfOAsW7dulxzzTV58cUXs379+tx777258MIL8/TTT2fp0qVpaWnJ7NmzU1NTk379+qVr165ZtGhRkmTWrFmpqalJRUVFqqurM2fOnCRJXV1dampqtvVSAAAAgG1km19C8uEPfzi/+c1vcswxx6S1tTUnnXRSDjjggFx99dU599xz8+KLL2bw4MEZNmxYkmTq1KmZMGFC1q9fnwEDBuSUU05Jklx55ZUZP358brrppvTt2zfTpk3b1ksBAAAAtpGyUqm0/d8I4p/gHhgAvNO5B0bxVFZ2z2OPT+3oaQCwnared+x2/7u9UPfAAAAAANhaAgYAAABQeAIGAAAAUHgCBgAAAFB4AgYAAABQeAIGAAAAUHgCBgAAAFB4AgYAAABQeAIGAAAAUHgCBgAAAFB4AgYAAABQeAIGAAAAUHgCBgAAAFB4AgYAAABQeAIGAAAAUHgCBgAAAFB4AgYAAABQeAIGAAAAUHgCBgAAAFB4AgYAAABQeAIGAAAAUHgCBgAAAFB4AgYAAABQeAIGAAAAUHgCBgAAAFB4AgYAAABQeAIGAAAAUHgCBgAAAFB4AgYAAABQeAIGAAAAUHgCBgAAAFB4AgYAAABQeAIGAAAAUHgCBgAAAFB4AgYAAABQeAIGAAAAUHgCBgAAAFB4AgYAAABQeAIGAAAAUHgCBgAAAFB4AgYAAABQeAIGAAAAUHgCBgAAAFB4AgYAAABQeAIGAAAAUHgCBgAAAFB4AgYAAABQeAIGAAAAUHgCBgAAAFB4AgYAAABQeNt1wPjBD36Qo48+OkOGDMldd93V0dMBAAAA2kl5R0/gn9XQ0JBrr702M2fOTJcuXXLCCSfkoIMOyvve976OnhoAAADwFttuA8aCBQsyaNCg9OjRI0kydOjQ1NfX55xzztmi8zt1KmvH2W1bvbt27egpALCdejv9Pny76FLx7o6eAgDbse39d/ubzX+7DRgrVqxIZWVl2+Oqqqo8/vjjW3z+Lrvs1B7T6hDfPuCAjp4CANupXr26dfQUeJV9//tpHT0FALZjb+ff7dvtPTBaW1tTVvb/ykypVNrsMQAAAPD2sd0GjD59+qSxsbHtcWNjY6qqqjpwRgAAAEB72W4DxiGHHJKHH344q1atyt///vfcf//9qamp6ehpAQAAAO1gu70HRu/evfO5z30up5xySpqbm/Pxj388++67b0dPCwAAAGgHZaVSqdTRkwAAAAB4M9vtJSQAAADAO4eAAQAAABSegAEAAAAUnoABAAAAFJ6AAQAAABTedvtnVIHty/r16/O///f/zsKFC9O5c+e8+93vzvjx4zNgwIA88sgjueGGG/Ktb32rQ+Y2c+bMPProo7n66qtf87Pvf//7+drXvpaWlpZ06tQpw4YNy+mnn57y8vK0tLTktNNOy7PPPpuLL744N954YzZu3JivfOUr2WuvvTpgJQDQcZ599tkMGzYs/fv332z85ptvTt++fV/3nK985StJknPPPTfvf//789RTT23Rax1xxBHZYYcdUlFRkVKplPLy8lx88cUZNGjQG57z7W9/O0ly4oknbjb+Zp8DgGIRMIB219ramlNPPTUHHXRQ6urqUl5enl/84hc59dRTc99993X09N7QzJkzc/vtt+fGG2/MHnvskfXr12f8+PG54oorMnny5DQ0NOSpp57Kz372syxcuDBdunTJzJkzO3raANBhqqqqMmvWrG3yWrfeemt22223JMmPf/zjjB07Nj/72c/e8PhXhwtg+yNgAO3ukUceyXPPPZfzzjsvnTq9dOXaoEGDMmXKlLS2tiZJVq1alVNPPTX/9V//lb322ivXX399unTpkmuvvTYPP/xw1qxZk6qqqlx77bXZddddM2jQoAwcODCNjY25++67c/3112fevHnZZZddUllZmSOOOCKjRo1KXV1d7rjjjrS2tmbAgAG58sor07Vr19TV1eWmm25Kt27d0q9fv+y4446vmfcNN9yQKVOmZI899kiSdOvWLVdddVUOO+ywnH322TnjjDPy/PPP5yMf+Ug6deqUpqamnHHGGbn55pu33ZsLANuB8ePH58ADD8yoUaOS5A13W7S2tubII4/Mbbfdlr322it/+9vfMnz48Nx///3p2rXrGz7/QQcdlMbGxqxevTqNjY350pe+lL/97W9ZtWpVTjvttJx44omb7fbYks8BQPG4BwbQ7n7/+99nn332aYsXLxs8eHB69eqVJFm+fHmuuOKKzJ07N01NTVmwYEGWLl2av/zlL/nOd76TefPmpW/fvvn+97+fJFm9enVOPfXUzJo1Kz/96U+zaNGizJ49O7feemt+//vfJ0n++Mc/ZsaMGfnOd76TWbNmpVevXrntttvS0NCQqVOn5q677sp3v/vdbNiw4TVzXrVqVZYtW5Z99913s/Gdd94573vf+/K73/0uN910U6qqqvKjH/0okyZNysCBA8ULAN7RVqxYkY997GNt//va1762Ved36tQpxxxzTNvv+/vvvz+HH374m8aLJJk9e3be+973Zpdddsn3vve9nHXWWbnnnnvyzW9+M9dcc81mx27J5wCgmOzAANpdp06d/uEHj3322Se77757kqR///5ZvXp1Dj/88Hz+85/P9773vTz99NP59a9/3bYbIkn222+/JMmCBQsyfPjwdOnSJV26dMmRRx6Z5KWdH0uXLs3/+l//K0nS3NycD3zgA/nVr36VAw44ILvuumuSpLa2Nr/4xS9ed14tLS2vGWtubk5ZWdlWvgsA8Pb3VlxCMmrUqHz605/O+eefn3vvvTcXXnjh6x532mmnpaKiIs3Nzenbt2+uu+66JC/t9vjpT3+aW265JX/4wx/yt7/9bbPztuZzAFAsAgbQ7gYOHJj/+3//b0ql0mb/4T9t2rQccsghKSsrS3n5//u/o7KyspRKpSxevDgXXXRRxowZk6FDh6ZTp04plUptx+2www5JXgokL1+K8kotLS0ZPnx4JkyYkCTZsGFDWlpa8vDDD2/2PK987Zf17Nkze+yxR371q1/lsMMOaxtftWpVnnnmmXzgAx/Y7DkAgDf28u/25KV/CHgzu+22W97znvfk/vvvz8qVK9v+weLVXnkPjFe64IIL8u53vzsf/vCHc/TRR2f27NlvOJfk9T8HAMXkEhKg3VVXV6dXr1654YYb2nY0/PSnP83MmTPzvve97w3PW7hwYQ488MCceOKJee9735sHH3zwdXdEHHLIIbn//vuzcePGrF+/Pg8++GDKyspy0EEH5YEHHsjKlStTKpXyhS98IXfccUc+9KEP5de//nUaGhrS2tqaOXPmvO7rX3DBBZk8eXKeeeaZJC8FkAkTJuToo49Ov3793oJ3BgDeGXr06JE//elPSZIf/vCH//D44447LpMmTcpHP/rRrX6tn//85znvvPNy5JFHZv78+Uk231G5pZ8DgOKRG4F2V1ZWlunTp2fKlCkZOXJkysvLs8suu+TWW2/Nrrvumj//+c+ve97RRx+dc845J7W1tUle2snx7LPPvua4ww8/PL/61a9y7LHHZuedd05VVVW6du2affbZJ+ecc04+9alPpbW1Nf/9v//3nHbaaenatWsmTJiQMWPG5F3vetcbRpQRI0akc+fOOf/887Nx48a0tLRkxIgROeOMM966NwcA3gFOPPHEXHDBBamtrc2gQYNSWVn5pscPGTIkl19+eT72sY9t9Wude+65Oemkk9o+C/Tr12+zzw+77rrrFn0OAIqnrGQPNLCd+9WvfpUlS5bk2GOPTXNzcz7xiU9k8uTJ2WeffTp6agDAViqVSpk/f36+/e1vuzk2sBk7MIDt3l577ZUbbrght99+e0qlUo455hjxAgC2U5MnT85PfvKTfPWrX+3oqQAFYwcGAAAAUHhu4gkAAAAUnoABAAAAFJ6AAQAAABSegAEAvGUeeeSRjBw5sqOnkSSZMGFCFi9e/JYdBwB0LAEDAHhbWrBgQbbkXuVbehwA0LH8GVUA4C23bt26TJw4MU8++WTKyspy2GGH5cILL0x5eXnuvvvufPe7301zc3PWrFmTU089NSeddFJmzpyZBx54IJ06dcrSpUuzww475D//8z/Tv3//N3ydTZs25Utf+lJ++ctfpqKiIrvttlumTJmSW2+9NStWrMjYsWNzzTXXpFQq5ctf/nI2btyYxsbGHHLIIZk8eXKuvfbazY6bOnVqRo8enWHDhiVJTj755LbH119/fR544IFUVFRkl112yZQpU1JVVbWt3lIAeMezAwMAeMtNmjQpPXr0yA9+8IPcc889eeqpp/L1r389GzZsyPe+973ceuutqaury7XXXpsvf/nLbectXLgwl19+eWbPnp399tsvt95665u+zq9//es8+uij+f73v5+ZM2dm9913z1NPPZXPfe5zqaqqytSpU7Pffvvlm9/8Zs4777x873vfy3333Zcf//jHWbx48WuOeyPPPfdc7rjjjtxzzz2ZOXNm/uf//J95/PHH37L3CwD4x+zAAADecvPnz8+3v/3tlJWVpUuXLjnhhBNyxx135LTTTsvNN9+chx56KEuWLMmTTz6Zv/3tb23nDRgwIH369EmSfOADH8gDDzzwpq/z3/7bf0vnzp1z/PHH59BDD83QoUOz7777vua4q6++OvPnz8/NN9+cv/zlL3nxxRc3e91/pHfv3tlnn31y7LHHpqamJjU1NTn44IO3+HwA4F9nBwYA8JZrbW1NWVnZZo83bdqUv/71rznmmGOybNmyfOhDH8oFF1yw2Xk77LBD2/dlZWX/8N4U7373uzNr1qx8/vOfT+fOnXPBBRfkrrvues1xn/zkJ/PQQw/l3/7t33L22WenqqrqDZ/7lePNzc1Jkk6dOuXOO+/MlClT0qNHj0yePDnXXHPNP3wfAIC3joABALzlDj300Nx5550plUrZuHFjZsyYkUMOOSSLFy9Oz549c9ZZZ+XQQw/NT37ykyRJS0vLP/U6P/nJTzJmzJgccMABOffcc3PMMce0/UWRzp07Z9OmTVm7dm1++9vfZuzYsRkyZEj++te/5r/+67/S2tq62XFJ0rNnz7bz//SnP+Wpp55Kkjz55JMZOXJk+vfvn9NPPz1jxozJb3/723/pPQIAto5LSACAt9yECRMyadKk1NbWprm5OYcddljOOOOMtLS05O67786wYcNSVlaWAw88MD179szSpUv/qdepqanJ/PnzM3LkyOy4447Zeeed86UvfSlJctRRR2XcuHH5whe+kNNOOy3HHntsdtxxx/Tu3Tsf/OAHs3Tp0hx88MGbHXfmmWdm/Pjxbbs1qqurkyT77LNPhg8fnuOOOy477rhjdthhh0yYMOEte78AgH+srOTvhgEAAAAFZwcGAFBokydPziOPPPK6P7vkkksyaNCgbTwjAKAj2IEBAAAAFJ6beAIAAACFJ2AAAAAAhSdgAAAAAIUnYAAAAACFJ2AAAAAAhff/AYT4YqRKsL5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8" name="AutoShape 6" descr="data:image/png;base64,iVBORw0KGgoAAAANSUhEUgAABDAAAAG7CAYAAAA122WqAAAAOXRFWHRTb2Z0d2FyZQBNYXRwbG90bGliIHZlcnNpb24zLjMuMiwgaHR0cHM6Ly9tYXRwbG90bGliLm9yZy8vihELAAAACXBIWXMAAAsTAAALEwEAmpwYAAA1AUlEQVR4nO3de5yVZcHv/+/ADJhCIjgDhId8yJ072B5qHkW3DmbKQZhSzJ1KGvXk+ZiCoaJGIfgYG92meCgzS3dFikMhDNpBqTBFOhildhIeBRtmADmVMsys3x/+nC2egnKYG32/X69eM+ua+17rutYfzfLDdd9TViqVSgEAAAAosE4dPQEAAACAf0TAAAAAAApPwAAAAAAKT8AAAAAACk/AAAAAAApPwAAAAAAKT8AAAArnhRdeSFNT0xYd29LSkueee66dZ9T+3i7rAID2ImAAwDvQs88+m/e///1Zu3ZtR0/ldX3yk5/Mr3/96y069sILL8y8efPad0LbwNtlHQDQXgQMAKBwVq1a1S7HFtnbZR0A0F4EDAAgCxYsyHHHHZcPfvCDqa2tTX19fdvPnnrqqXzmM5/JoYcemv322y+f+tSnsnz58iTJV77ylVx00UU588wzc8ABB+Too4/OD3/4wy16zQcffDAjRoxIdXV1amtrU1dXlyQ5++yzs3z58lx44YX56le/mlKplBtuuCHDhw/PAQcckJqamnzjG99Iklx11VV57LHHMnXq1Hzxi1/MI488kurq6s1e54gjjmib0z333JMjjzwy//7v/57jjjsu8+fPf925bdy4Mddcc00OOeSQHHjggbnggguyfv36JMnixYtz8sknp7q6OkOHDs1dd93Vdt7JJ5/cNrckmTlzZj72sY+1ff/pT386l1xyST70oQ/lyCOPzHe+853XXQcA8FoCBgC8w/3xj3/M6aefnv/4j//Io48+mksvvTSXXHJJFi1alCQ577zzcsghh2T+/Pn56U9/mtbW1nz1q19tO3/u3Ln5xCc+kUcffTTDhg3LF77whZRKpTd9zdbW1owdOzYXX3xxHnvssVxyySWZNGlSNmzYkBtvvDHvec97Mm3atJx66qmZPXt2Zs2alW984xv55S9/mSuvvDLXXHNNVqxYkcsuuyzV1dUZO3Zsrrjiijd9zVWrVuXyyy/PTTfdlIULF+aEE07IpEmTXneuN9xwQ37+85/n7rvvzoMPPpi///3v+c///M+sWrUqY8aMyRFHHJGHH34406ZNy0033ZTZs2dv0Xu9YMGC7LfffnnkkUdy+umn56qrrsratWu3ah0A8E4lYADAO9x9992Xgw46KEcffXTKy8tz8MEHp7a2Nvfee2+S5Ktf/WrGjBmT5ubm/PWvf80uu+ySFStWtJ3/P/7H/8jhhx+eioqKfPSjH01jY2M2bNjwpq/ZqVOn7LTTTrnvvvvy2GOP5cADD8yjjz6anXba6TXHfvjDH85dd92V3r17p6mpKRUVFWlpadnqSy66dOmS8vLy3H333fntb3+bUaNGZd68eSkrK3vNsT/4wQ9yxhln5D3veU923HHHTJo0KWPGjMmPfvSjVFZW5tOf/nQqKioyYMCAnHLKKbnnnnu2aA6VlZU54YQTUl5enmOOOSYbN250404A2EICBgC8w61atSrvec97Nhvbbbfd2v7DevHixamtrc1HPvKRTJkyJStWrNhs10KvXr3avi8vL0/y0g6Lf+TrX/96Nm7cmLPOOisHHXRQrr766jQ3N7/muE2bNmXKlCk56KCD8pnPfKbtRpf/aJfHq3Xr1i133HFHli5dmlNOOSWHHnpobrnlltd9nqamps3ek8rKyvTv3/9136t+/fptcYR45XtVUVGRZMveKwAgKe/oCQAAHatv37557LHHNht75plnsuuuu6ahoSFjx47NnXfemQ9+8INJkkmTJrXdA+Of9fe//z0rVqzIddddl9bW1vzyl7/MeeedlwEDBrTdM+Jl06ZNy4svvpiHHnooO+ywQ9asWZO77777dZ+3c+fOm0WQUqmUNWvWJEnWrFmTlpaW3HzzzWlubs7Pf/7znHvuuamurn7NfTN69+6dv/71r9lvv/2SJH/605/y4x//OH379n3N2l9+r5KXdpa88vWff/75f+4NAgBeww4MAHiHO/roo/PYY49lzpw5aWlpycMPP5wf/OAHqa2tzfr161MqlbLDDjskSR5++OHMmjXrdXdKbI2WlpaceeaZue+++1JWVpY+ffqkrKwsPXr0SPLS7oR169YlSdatW5euXbumc+fOWbNmTSZPnpwkbXPo0qVL2w0299hjj2zcuLFtLXfccUfb5SyrVq1qu89HRUVFevfunbKysuy8886vmV9tbW1uueWWNDQ0ZMOGDZk2bVqeffbZDB48OKtXr843vvGNNDc35/e//32+9a1vpba2Nkny3ve+Nz/84Q+zdu3aLF++PDNnztzi9+SV6wAAXkvAAIB3uD333DPTp0/P1772tVRXV2fixImZOHFiDj300PTv3z/nnXde/uM//iP//u//nmuvvTYnnnhi/vznP2/1JRyv1K1bt1x//fW55ZZb8sEPfjAnnnhiRo8encGDBydJRo0alYkTJ2batGk5//zz89xzz+XAAw9MbW1tdtlll7z//e/PH/7whyQvxYavf/3rueiii1JVVZUJEybky1/+cgYNGpRnn322befIXnvtlYkTJ+byyy/PAQcckLPPPjsTJkzI3nvv/Zr5nXnmmTnooINy/PHH54gjjshOO+2Uz3/+89l5553zta99LT/84Q8zaNCgnHPOOfnsZz+bT3ziE0mSs846K926dcvhhx+eM844Ix/96Ee3+D155ToAgNcqK/0rnz4AAAAAtgE7MAAAAIDCcxNPAOAt9/vf/z6jR49+w5+fddZZOfXUU7fhjACA7Z1LSAAAAIDCcwkJAAAAUHgCBgAAAFB479h7YKxevSGtra6eAQAAgKLo1Kksu+yy0+v+7B0bMFpbSwIGAAAAbCdcQgIAAAAUnoABAAAAFJ6AAQAAABSegAEAAAAUnoABAAAAFJ6AAQAAABSegAEAAAAUnoABAAAAFJ6AAQAAABSegAEAAAAUnoABAAAAFJ6AAQAAABSegAEAAAAUnoABAAAAFJ6AAQAAABReeUdPAACAl+yyyw4pL6/o6GkAsJ3atKk5q1e/0NHTaDcCBgBAQZSXV+Sxx6d29DQA2E5V7zs2yds3YLiEBAAAACg8AQMAAAAoPAEDAAAAKLx2DRj/5//8nxx99NEZMWJEbr/99iTJggULUltbmyFDhuTaa69tO/aJJ57IqFGjMnTo0Fx22WXZtGlTkmT58uUZPXp0hg0bljPPPDMbNmxIkqxduzannXZahg8fntGjR6exsbE9lwIAAAB0oHYLGI8++mh+8Ytf5Pvf/37uueeefOtb38qTTz6ZSy+9NNOnT8+cOXOyePHiPPTQQ0mScePG5Yorrsi8efNSKpUyY8aMJMnEiRNz0kknpb6+PgMHDsz06dOTJNddd12qq6szd+7cHH/88bnqqqvaaykAAABAB2u3gHHggQfmm9/8ZsrLy7Ny5cq0tLRk7dq12XPPPbP77runvLw8tbW1qa+vz7Jly/LCCy9k//33T5KMGjUq9fX1aW5uzsKFCzN06NDNxpPkwQcfTG1tbZJk5MiRmT9/fpqbm9trOQAAAEAHatc/o1pRUZHrr78+X//61zNs2LCsWLEilZWVbT+vqqpKQ0PDa8YrKyvT0NCQ1atXp1u3bikvL99sPMlm55SXl6dbt25ZtWpVevfuvUVz69Wr21u1TAAAACiEysruHT2FdtOuASNJzjvvvJx66qk544wzsmTJkpSVlbX9rFQqpaysLK2tra87/vLXV3r141ee06nTlm8oWblyfVpbS1u5GgCA9vN2/tAJwLbR2Liuo6fwL+nUqewNNxy02yUkf/7zn/PEE08kSd71rndlyJAheeSRRza72WZjY2OqqqrSp0+fzcabmppSVVWVnj17Zt26dWlpadns+OSl3RtNTU1Jkk2bNmXDhg3p0aNHey0HAAAA6EDtFjCeffbZTJgwIRs3bszGjRvzox/9KCeccEKefvrpLF26NC0tLZk9e3ZqamrSr1+/dO3aNYsWLUqSzJo1KzU1NamoqEh1dXXmzJmTJKmrq0tNTU2SZPDgwamrq0uSzJkzJ9XV1amoqGiv5QAAAAAdqN0uIRk8eHAef/zxHHPMMencuXOGDBmSESNGpGfPnjn33HPz4osvZvDgwRk2bFiSZOrUqZkwYULWr1+fAQMG5JRTTkmSXHnllRk/fnxuuumm9O3bN9OmTUuSnH/++Rk/fnxGjBiR7t27Z+rUqe21FAAAAKCDlZVKpXfkjSDcAwMAKJrKyu557HH/KAPAP6d637HugQEAAADQkQQMAAAAoPAEDAAAAKDwBAwAAACg8AQMAAAAoPAEDAAAAKDwBAwAAACg8AQMAAAAoPAEDAAAAKDwBAwAAACg8AQMAAAAoPAEDAAAAKDwBAwAAACg8AQMAAAAoPAEDAAAAKDwBAwAAACg8AQMAAAAoPAEDAAAAKDwBAwAAACg8AQMAAAAoPAEDAAAAKDwBAwAAACg8AQMAAAAoPAEDAAAAKDwBAwAAACg8AQMAAAAoPAEDAAAAKDwBAwAAACg8AQMAAAAoPAEDAAAAKDwBAwAAACg8AQMAAAAoPAEDAAAAKDwBAwAAACg8AQMAAAAoPAEDAAAAKDwBAwAAACg8AQMAAAAoPAEDAAAAKDwBAwAAACg8AQMAAAAoPAEDAAAAKDwBAwAAACg8AQMAAAAoPAEDAAAAKDwBAwAAACg8AQMAAAAoPAEDAAAAKDwBAwAAACg8AQMAAAAoPDK2/PJb7jhhsydOzdJMnjw4Fx88cW55JJLsmjRorzrXe9Kkpxzzjk56qij8sQTT+Syyy7Lhg0bUl1dnYkTJ6a8vDzLly/PuHHjsnLlyuy1116ZOnVqdtppp6xduzZjx47NM888k549e+a6665LZWVley4HAAAA6CDttgNjwYIF+dnPfpZ77703dXV1+d3vfpcHHnggixcvzp133plZs2Zl1qxZOeqoo5Ik48aNyxVXXJF58+alVCplxowZSZKJEyfmpJNOSn19fQYOHJjp06cnSa677rpUV1dn7ty5Of7443PVVVe111IAAACADtZuAaOysjLjx49Ply5dUlFRkf79+2f58uVZvnx5Lr300tTW1ub6669Pa2trli1blhdeeCH7779/kmTUqFGpr69Pc3NzFi5cmKFDh242niQPPvhgamtrkyQjR47M/Pnz09zc3F7LAQAAADpQu11Csvfee7d9v2TJksydOzd33XVXHn300Vx55ZXp3r17Tj/99Nx9993Ze++9N7v8o7KyMg0NDVm9enW6deuW8vLyzcaTZMWKFW3nlJeXp1u3blm1alV69+69RfPr1avbW7VUAAAAKITKyu4dPYV20673wEiSP/7xjzn99NNz8cUX59/+7d9y4403tv3s5JNPTl1dXfr375+ysrK28VKplLKysravr/Tqx688p1OnLd9QsnLl+rS2lrZyNQAA7eft/KETgG2jsXFdR0/hX9KpU9kbbjho179CsmjRoowZMyYXXXRRjj322Dz11FOZN29e289LpVLKy8vTp0+fNDY2to03NTWlqqoqPXv2zLp169LS0pIkaWxsTFVVVZKkqqoqTU1NSZJNmzZlw4YN6dGjR3suBwAAAOgg7RYwnnvuuZx99tmZOnVqRowYkeSlYDF58uSsWbMmzc3N+e53v5ujjjoq/fr1S9euXbNo0aIkyaxZs1JTU5OKiopUV1dnzpw5SZK6urrU1NQkeemvmtTV1SVJ5syZk+rq6lRUVLTXcgAAAIAOVFYqldrlOopJkyblnnvuyR577NE2dsIJJ6S1tTV33XVXNm3alCFDhmTs2LFJkieffDITJkzI+vXrM2DAgEyZMiVdunTJsmXLMn78+KxcuTJ9+/bNtGnTsvPOO+f555/P+PHj88wzz6R79+6ZOnVqdtttty2en0tIAICiqazsnscen9rR0wBgO1W979i39SUk7RYwik7AAACKRsAA4F/xdg8Y7XoPDAAAAIC3goABAAAAFJ6AAQAAABSegAEAAAAUnoABAAAAFJ6AAQAAABSegAEAAAAUnoABAAAAFJ6AAQAAABSegAEAAAAUnoABAAAAFJ6AAQAAABSegAEAAAAUnoABAAAAFJ6AAQAAABSegAEAAAAUnoABAAAAFJ6AAQAAABSegAEAAAAUnoABAAAAFJ6AAQAAABSegAEAAAAUnoABAAAAFJ6AAQAAABSegAEAAAAUnoABAAAAFJ6AAQAAABSegAEAAAAUnoABAAAAFJ6AAQAAABSegAEAAAAUnoABAAAAFJ6AAQAAABSegAEAAAAUnoABAAAAFJ6AAQAAABSegAEAAAAUnoABAAAAFJ6AAQAAABSegAEAAAAUnoABAAAAFJ6AAQAAABSegAEAAAAUnoABAAAAFJ6AAQAAABSegAEAAAAUnoABAAAAFJ6AAQAAABSegAEAAAAUnoABAAAAFF67BowbbrghI0aMyIgRI3LNNdckSRYsWJDa2toMGTIk1157bduxTzzxREaNGpWhQ4fmsssuy6ZNm5Iky5cvz+jRozNs2LCceeaZ2bBhQ5Jk7dq1Oe200zJ8+PCMHj06jY2N7bkUAAAAoAO1W8BYsGBBfvazn+Xee+9NXV1dfve732X27Nm59NJLM3369MyZMyeLFy/OQw89lCQZN25crrjiisybNy+lUikzZsxIkkycODEnnXRS6uvrM3DgwEyfPj1Jct1116W6ujpz587N8ccfn6uuuqq9lgIAAAB0sHYLGJWVlRk/fny6dOmSioqK9O/fP0uWLMmee+6Z3XffPeXl5amtrU19fX2WLVuWF154Ifvvv3+SZNSoUamvr09zc3MWLlyYoUOHbjaeJA8++GBqa2uTJCNHjsz8+fPT3NzcXssBAAAAOlB5ez3x3nvv3fb9kiVLMnfu3Hzyk59MZWVl23hVVVUaGhqyYsWKzcYrKyvT0NCQ1atXp1u3bikvL99sPMlm55SXl6dbt25ZtWpVevfuvUXz69Wr27+8RgAAACiSysruHT2FdtNuAeNlf/zjH3P66afn4osvTufOnbNkyZK2n5VKpZSVlaW1tTVlZWWvGX/56yu9+vErz+nUacs3lKxcuT6traWtWwwAQDt6O3/oBGDbaGxc19FT+Jd06lT2hhsO2vUmnosWLcqYMWNy0UUX5dhjj02fPn02u9lmY2NjqqqqXjPe1NSUqqqq9OzZM+vWrUtLS8tmxycv7d5oampKkmzatCkbNmxIjx492nM5AAAAQAdpt4Dx3HPP5eyzz87UqVMzYsSIJMl+++2Xp59+OkuXLk1LS0tmz56dmpqa9OvXL127ds2iRYuSJLNmzUpNTU0qKipSXV2dOXPmJEnq6upSU1OTJBk8eHDq6uqSJHPmzEl1dXUqKiraazkAAABAByorlUrtch3FpEmTcs8992SPPfZoGzvhhBPy3ve+N1OmTMmLL76YwYMH55JLLklZWVmefPLJTJgwIevXr8+AAQMyZcqUdOnSJcuWLcv48eOzcuXK9O3bN9OmTcvOO++c559/PuPHj88zzzyT7t27Z+rUqdltt922eH4uIQEAiqaysnsee3xqR08DgO1U9b5j39aXkLRbwCg6AQMAKBoBA4B/xds9YLTrPTAAAAAA3goCBgAAAFB4AgYAAABQeAIGAAAAUHgCBgAAAFB4AgYAAABQeAIGAAAAUHgCBgAAAFB4AgYAAABQeAIGAAAAUHgCBgAAAFB4AgYAAABQeAIGAAAAUHgCBgAAAFB4AgYAAABQeAIGAAAAUHgCBgAAAFB4AgYAAABQeAIGAAAAUHgCBgAAAFB4AgYAAABQeAIGAAAAUHgCBgAAAFB4AgYAAABQeAIGAAAAUHgCBgAAAFB4AgYAAABQeAIGAAAAUHhbFDAaGhpeM/anP/3pLZ8MAAAAwOt504Dx/PPP5/nnn8+pp56aNWvWtD1uamrKOeecs63mCAAAALzDlb/ZDy+66KL8/Oc/T5IcdNBB/++k8vIMHTq0fWcGAAAA8P9704Bx2223JUkuueSSTJkyZZtMCAAAAODV3jRgvGzKlClZtmxZ1qxZk1Kp1DY+YMCAdpsYAAAAwMu2KGBcf/31ue2229KrV6+2sbKysvzoRz9qt4kBAAAAvGyLAkZdXV3uv//+9O7du73nAwAAAPAaW/RnVPv27SteAAAAAB1mi3ZgHHzwwbnmmmvykY98JDvssEPbuHtgAAAAANvCFgWMmTNnJknq6+vbxtwDAwAAANhWtihg/PjHP27veQAAAAC8oS0KGLfffvvrjn/6059+SycDAAAA8Hq2KGD84Q9/aPt+48aNWbhwYQ4++OB2mxQAAADAK21RwJgyZcpmjxsaGnLZZZe1y4QAAAAAXm2L/ozqq/Xu3TvLli17q+cCAAAA8Lq2+h4YpVIpixcvTq9evdptUgAAAACvtNX3wEiSvn375uKLL26XCQEAAAC82lbdA2PZsmXZtGlT9txzz3adFAAAAMArbVHAWLp0ac4666ysWLEira2t2WWXXXLLLbekf//+7T0/AAAAgC27iecXv/jFfPazn83ChQuzaNGinHnmmZk4cWJ7zw0AAAAgyRYGjJUrV+bYY49te3zcccdl9erV7TYpAAAAgFfaooDR0tKS559/vu3xqlWr2ms+AAAAAK+xRffA+OQnP5lPfOITGT58eMrKyjJnzpx86lOf+ofnrV+/PieccEJuvvnm7LbbbrnkkkuyaNGivOtd70qSnHPOOTnqqKPyxBNP5LLLLsuGDRtSXV2diRMnpry8PMuXL8+4ceOycuXK7LXXXpk6dWp22mmnrF27NmPHjs0zzzyTnj175rrrrktlZeW/9k4AAAAAhbVFOzAGDx6cJGlubs6f//znNDQ05KijjnrTc37zm9/kxBNPzJIlS9rGFi9enDvvvDOzZs3KrFmz2p5j3LhxueKKKzJv3ryUSqXMmDEjSTJx4sScdNJJqa+vz8CBAzN9+vQkyXXXXZfq6urMnTs3xx9/fK666qqtXjgAAACw/diigDF+/PiMHj0648aNy5e//OVccMEFufTSS9/0nBkzZuTKK69MVVVVkuTvf/97li9fnksvvTS1tbW5/vrr09rammXLluWFF17I/vvvnyQZNWpU6uvr09zcnIULF2bo0KGbjSfJgw8+mNra2iTJyJEjM3/+/DQ3N/9TbwAAAABQfFt0Ccnq1atzyimnJEm6du2aMWPGpK6u7k3PefWuiKampgwaNChXXnllunfvntNPPz1333139t57780u/6isrExDQ0NWr16dbt26pby8fLPxJFmxYkXbOeXl5enWrVtWrVqV3r17b9mqk/Tq1W2LjwUAAIDtQWVl946eQrvZooDR0tKShoaGtkDQ1NSUUqm0VS+0++6758Ybb2x7fPLJJ6euri79+/dPWVlZ23ipVEpZWVnb11d69eNXntOp0xZtJmmzcuX6tLZu3RoAANrT2/lDJwDbRmPjuo6ewr+kU6eyN9xwsEUBY8yYMTnmmGNy2GGHpaysLAsWLMjFF1+8VZN46qmnsmTJkrZLQkqlUsrLy9OnT580Nja2HdfU1JSqqqr07Nkz69atS0tLSzp37pzGxsa2y1GqqqrS1NSUPn36ZNOmTdmwYUN69OixVfMBAAAAth9btG3h4x//eG6//fZ84AMfyMCBA3Pbbbe13YNiS5VKpUyePDlr1qxJc3Nzvvvd7+aoo45Kv3790rVr1yxatChJMmvWrNTU1KSioiLV1dWZM2dOkqSuri41NTVJXrqp6MuXsMyZMyfV1dWpqKjYqvkAAAAA24+y0tZeC7KVjjjiiHzzm9/Mbrvtlrvuuit33XVXNm3alCFDhmTs2LFJkieffDITJkzI+vXrM2DAgEyZMiVdunTJsmXLMn78+KxcuTJ9+/bNtGnTsvPOO+f555/P+PHj88wzz6R79+6ZOnVqdtttt62al0tIAICiqazsnscen9rR0wBgO1W979i39SUk7R4wikrAAACKRsAA4F/xdg8YW3fnSwAAAIAOIGAAAAAAhSdgAAAAAIUnYAAAAACFJ2AAAAAAhSdgAAAAAIUnYAAAAACFJ2AAAAAAhSdgAAAAAIUnYAAAAACFJ2AAAAAAhSdgAAAAAIUnYAAAAACFJ2AAAAAAhSdgAAAAAIUnYAAAAACFJ2AAAAAAhSdgAAAAAIUnYAAAAACFJ2AAAAAAhSdgAAAAAIUnYAAAAACFJ2AAAAAAhSdgAAAAAIUnYAAAAACFJ2AAAAAAhSdgAAAAAIUnYAAAAACFJ2AAAAAAhSdgAAAAAIUnYAAAAACFJ2AAAAAAhSdgAAAAAIUnYAAAAACFJ2AAAAAAhSdgAAAAAIUnYAAAAACFJ2AAAAAAhSdgAAAAAIUnYAAAAACFJ2AAAAAAhSdgAAAAAIUnYAAAAACFJ2AAAAAAhSdgAAAAAIUnYAAAAACFJ2AAAAAAhSdgAAAAAIUnYAAAAACFJ2AAAAAAhdeuAWP9+vUZOXJknn322STJggULUltbmyFDhuTaa69tO+6JJ57IqFGjMnTo0Fx22WXZtGlTkmT58uUZPXp0hg0bljPPPDMbNmxIkqxduzannXZahg8fntGjR6exsbE9lwEAAAB0sHYLGL/5zW9y4oknZsmSJUmSF154IZdeemmmT5+eOXPmZPHixXnooYeSJOPGjcsVV1yRefPmpVQqZcaMGUmSiRMn5qSTTkp9fX0GDhyY6dOnJ0muu+66VFdXZ+7cuTn++ONz1VVXtdcyAAAAgAJot4AxY8aMXHnllamqqkqSPP7449lzzz2z++67p7y8PLW1tamvr8+yZcvywgsvZP/990+SjBo1KvX19Wlubs7ChQszdOjQzcaT5MEHH0xtbW2SZOTIkZk/f36am5vbaykAAABABytvryd+9a6IFStWpLKysu1xVVVVGhoaXjNeWVmZhoaGrF69Ot26dUt5eflm469+rvLy8nTr1i2rVq1K7969t3h+vXp1+6fXBgAAAEVUWdm9o6fQbtotYLxaa2trysrK2h6XSqWUlZW94fjLX1/p1Y9feU6nTlu3mWTlyvVpbS1t1TkAAO3p7fyhE4Bto7FxXUdP4V/SqVPZG2442GZ/haRPnz6b3WyzsbExVVVVrxlvampKVVVVevbsmXXr1qWlpWWz45OXdm80NTUlSTZt2pQNGzakR48e22opAAAAwDa2zQLGfvvtl6effjpLly5NS0tLZs+enZqamvTr1y9du3bNokWLkiSzZs1KTU1NKioqUl1dnTlz5iRJ6urqUlNTkyQZPHhw6urqkiRz5sxJdXV1KioqttVSAAAAgG1sm11C0rVr11x99dU599xz8+KLL2bw4MEZNmxYkmTq1KmZMGFC1q9fnwEDBuSUU05Jklx55ZUZP358brrppvTt2zfTpk1Lkpx//vkZP358RowYke7du2fq1KnbahkAAABABygrlUrvyBtBuAcGAFA0lZXd89jj/mEGgH9O9b5j3QMDAAAAoCMJGAAAAEDhCRgAAABA4QkYAAAAQOEJGAAAAEDhCRgAAABA4QkYAAAAQOEJGAAAAEDhCRgAAABA4QkYAAAAQOEJGAAAAEDhCRgAAABA4QkYAAAAQOEJGAAAAEDhCRgAAABA4QkYAAAAQOEJGAAAAEDhCRgAAABA4QkYAAAAQOEJGAAAAEDhCRgAAABA4QkYAAAAQOEJGAAAAEDhCRgAAABA4QkYAAAAQOEJGAAAAEDhCRgAAABA4QkYAAAAQOEJGAAAAEDhCRgAAABA4QkYAAAAQOEJGAAAAEDhCRgAAABA4QkYAAAAQOEJGAAAAEDhCRgAAABA4QkYAAAAQOEJGAAAAEDhCRgAAABA4QkYAAAAQOEJGAAAAEDhCRgAAABA4QkYAAAAQOEJGAAAAEDhCRgAAABA4QkYAAAAQOEJGAAAAEDhCRgAAABA4QkYAAAAQOEJGAAAAEDhlXfEi5588slZtWpVystfevkvfvGL2bBhQ6ZMmZIXX3wxw4cPz+c+97kkyRNPPJHLLrssGzZsSHV1dSZOnJjy8vIsX74848aNy8qVK7PXXntl6tSp2WmnnTpiOQAAAEA72+Y7MEqlUpYsWZJZs2a1/e/9739/Lr300kyfPj1z5szJ4sWL89BDDyVJxo0blyuuuCLz5s1LqVTKjBkzkiQTJ07MSSedlPr6+gwcODDTp0/f1ksBAAAAtpFtHjD+8pe/JEk+85nP5KMf/WjuvPPOPP7449lzzz2z++67p7y8PLW1tamvr8+yZcvywgsvZP/990+SjBo1KvX19Wlubs7ChQszdOjQzcYBAACAt6dtfgnJ2rVrc/DBB+fyyy9Pc3NzTjnllHz2s59NZWVl2zFVVVVpaGjIihUrNhuvrKxMQ0NDVq9enW7durVdgvLy+Nbo1avbW7OgDraxtTVdOrmVCQBbz+8QAHj7qazs3tFTaDfbPGAccMABOeCAA9oef/zjH8/111+fD33oQ21jpVIpZWVlaW1tTVlZ2WvGX/76Sq9+/I+sXLk+ra2lf3IVxVFZ2T1H/OIXHT0NALZDPx40KI2N6zp6GrzC2/lDJwDbxvb+u71Tp7I33HCwzf/Z5bHHHsvDDz/c9rhUKqVfv35pbGxsG2tsbExVVVX69Omz2XhTU1OqqqrSs2fPrFu3Li0tLZsdDwAAALw9bfOAsW7dulxzzTV58cUXs379+tx777258MIL8/TTT2fp0qVpaWnJ7NmzU1NTk379+qVr165ZtGhRkmTWrFmpqalJRUVFqqurM2fOnCRJXV1dampqtvVSAAAAgG1km19C8uEPfzi/+c1vcswxx6S1tTUnnXRSDjjggFx99dU599xz8+KLL2bw4MEZNmxYkmTq1KmZMGFC1q9fnwEDBuSUU05Jklx55ZUZP358brrppvTt2zfTpk3b1ksBAAAAtpGyUqm0/d8I4p/gHhgAvNO5B0bxVFZ2z2OPT+3oaQCwnared+x2/7u9UPfAAAAAANhaAgYAAABQeAIGAAAAUHgCBgAAAFB4AgYAAABQeAIGAAAAUHgCBgAAAFB4AgYAAABQeAIGAAAAUHgCBgAAAFB4AgYAAABQeAIGAAAAUHgCBgAAAFB4AgYAAABQeAIGAAAAUHgCBgAAAFB4AgYAAABQeAIGAAAAUHgCBgAAAFB4AgYAAABQeAIGAAAAUHgCBgAAAFB4AgYAAABQeAIGAAAAUHgCBgAAAFB4AgYAAABQeAIGAAAAUHgCBgAAAFB4AgYAAABQeAIGAAAAUHgCBgAAAFB4AgYAAABQeAIGAAAAUHgCBgAAAFB4AgYAAABQeAIGAAAAUHgCBgAAAFB4AgYAAABQeAIGAAAAUHgCBgAAAFB4AgYAAABQeAIGAAAAUHgCBgAAAFB4AgYAAABQeAIGAAAAUHgCBgAAAFB4AgYAAABQeAIGAAAAUHgCBgAAAFB4AgYAAABQeNt1wPjBD36Qo48+OkOGDMldd93V0dMBAAAA2kl5R0/gn9XQ0JBrr702M2fOTJcuXXLCCSfkoIMOyvve976OnhoAAADwFttuA8aCBQsyaNCg9OjRI0kydOjQ1NfX55xzztmi8zt1KmvH2W1bvbt27egpALCdejv9Pny76FLx7o6eAgDbse39d/ubzX+7DRgrVqxIZWVl2+Oqqqo8/vjjW3z+Lrvs1B7T6hDfPuCAjp4CANupXr26dfQUeJV9//tpHT0FALZjb+ff7dvtPTBaW1tTVvb/ykypVNrsMQAAAPD2sd0GjD59+qSxsbHtcWNjY6qqqjpwRgAAAEB72W4DxiGHHJKHH344q1atyt///vfcf//9qamp6ehpAQAAAO1gu70HRu/evfO5z30up5xySpqbm/Pxj388++67b0dPCwAAAGgHZaVSqdTRkwAAAAB4M9vtJSQAAADAO4eAAQAAABSegAEAAAAUnoABAAAAFJ6AAQAAABTedvtnVIHty/r16/O///f/zsKFC9O5c+e8+93vzvjx4zNgwIA88sgjueGGG/Ktb32rQ+Y2c+bMPProo7n66qtf87Pvf//7+drXvpaWlpZ06tQpw4YNy+mnn57y8vK0tLTktNNOy7PPPpuLL744N954YzZu3JivfOUr2WuvvTpgJQDQcZ599tkMGzYs/fv332z85ptvTt++fV/3nK985StJknPPPTfvf//789RTT23Rax1xxBHZYYcdUlFRkVKplPLy8lx88cUZNGjQG57z7W9/O0ly4oknbjb+Zp8DgGIRMIB219ramlNPPTUHHXRQ6urqUl5enl/84hc59dRTc99993X09N7QzJkzc/vtt+fGG2/MHnvskfXr12f8+PG54oorMnny5DQ0NOSpp57Kz372syxcuDBdunTJzJkzO3raANBhqqqqMmvWrG3yWrfeemt22223JMmPf/zjjB07Nj/72c/e8PhXhwtg+yNgAO3ukUceyXPPPZfzzjsvnTq9dOXaoEGDMmXKlLS2tiZJVq1alVNPPTX/9V//lb322ivXX399unTpkmuvvTYPP/xw1qxZk6qqqlx77bXZddddM2jQoAwcODCNjY25++67c/3112fevHnZZZddUllZmSOOOCKjRo1KXV1d7rjjjrS2tmbAgAG58sor07Vr19TV1eWmm25Kt27d0q9fv+y4446vmfcNN9yQKVOmZI899kiSdOvWLVdddVUOO+ywnH322TnjjDPy/PPP5yMf+Ug6deqUpqamnHHGGbn55pu33ZsLANuB8ePH58ADD8yoUaOS5A13W7S2tubII4/Mbbfdlr322it/+9vfMnz48Nx///3p2rXrGz7/QQcdlMbGxqxevTqNjY350pe+lL/97W9ZtWpVTjvttJx44omb7fbYks8BQPG4BwbQ7n7/+99nn332aYsXLxs8eHB69eqVJFm+fHmuuOKKzJ07N01NTVmwYEGWLl2av/zlL/nOd76TefPmpW/fvvn+97+fJFm9enVOPfXUzJo1Kz/96U+zaNGizJ49O7feemt+//vfJ0n++Mc/ZsaMGfnOd76TWbNmpVevXrntttvS0NCQqVOn5q677sp3v/vdbNiw4TVzXrVqVZYtW5Z99913s/Gdd94573vf+/K73/0uN910U6qqqvKjH/0okyZNysCBA8ULAN7RVqxYkY997GNt//va1762Ved36tQpxxxzTNvv+/vvvz+HH374m8aLJJk9e3be+973Zpdddsn3vve9nHXWWbnnnnvyzW9+M9dcc81mx27J5wCgmOzAANpdp06d/uEHj3322Se77757kqR///5ZvXp1Dj/88Hz+85/P9773vTz99NP59a9/3bYbIkn222+/JMmCBQsyfPjwdOnSJV26dMmRRx6Z5KWdH0uXLs3/+l//K0nS3NycD3zgA/nVr36VAw44ILvuumuSpLa2Nr/4xS9ed14tLS2vGWtubk5ZWdlWvgsA8Pb3VlxCMmrUqHz605/O+eefn3vvvTcXXnjh6x532mmnpaKiIs3Nzenbt2+uu+66JC/t9vjpT3+aW265JX/4wx/yt7/9bbPztuZzAFAsAgbQ7gYOHJj/+3//b0ql0mb/4T9t2rQccsghKSsrS3n5//u/o7KyspRKpSxevDgXXXRRxowZk6FDh6ZTp04plUptx+2www5JXgokL1+K8kotLS0ZPnx4JkyYkCTZsGFDWlpa8vDDD2/2PK987Zf17Nkze+yxR371q1/lsMMOaxtftWpVnnnmmXzgAx/Y7DkAgDf28u/25KV/CHgzu+22W97znvfk/vvvz8qVK9v+weLVXnkPjFe64IIL8u53vzsf/vCHc/TRR2f27NlvOJfk9T8HAMXkEhKg3VVXV6dXr1654YYb2nY0/PSnP83MmTPzvve97w3PW7hwYQ488MCceOKJee9735sHH3zwdXdEHHLIIbn//vuzcePGrF+/Pg8++GDKyspy0EEH5YEHHsjKlStTKpXyhS98IXfccUc+9KEP5de//nUaGhrS2tqaOXPmvO7rX3DBBZk8eXKeeeaZJC8FkAkTJuToo49Ov3793oJ3BgDeGXr06JE//elPSZIf/vCH//D44447LpMmTcpHP/rRrX6tn//85znvvPNy5JFHZv78+Uk231G5pZ8DgOKRG4F2V1ZWlunTp2fKlCkZOXJkysvLs8suu+TWW2/Nrrvumj//+c+ve97RRx+dc845J7W1tUle2snx7LPPvua4ww8/PL/61a9y7LHHZuedd05VVVW6du2affbZJ+ecc04+9alPpbW1Nf/9v//3nHbaaenatWsmTJiQMWPG5F3vetcbRpQRI0akc+fOOf/887Nx48a0tLRkxIgROeOMM966NwcA3gFOPPHEXHDBBamtrc2gQYNSWVn5pscPGTIkl19+eT72sY9t9Wude+65Oemkk9o+C/Tr12+zzw+77rrrFn0OAIqnrGQPNLCd+9WvfpUlS5bk2GOPTXNzcz7xiU9k8uTJ2WeffTp6agDAViqVSpk/f36+/e1vuzk2sBk7MIDt3l577ZUbbrght99+e0qlUo455hjxAgC2U5MnT85PfvKTfPWrX+3oqQAFYwcGAAAAUHhu4gkAAAAUnoABAAAAFJ6AAQAAABSegAEAvGUeeeSRjBw5sqOnkSSZMGFCFi9e/JYdBwB0LAEDAHhbWrBgQbbkXuVbehwA0LH8GVUA4C23bt26TJw4MU8++WTKyspy2GGH5cILL0x5eXnuvvvufPe7301zc3PWrFmTU089NSeddFJmzpyZBx54IJ06dcrSpUuzww475D//8z/Tv3//N3ydTZs25Utf+lJ++ctfpqKiIrvttlumTJmSW2+9NStWrMjYsWNzzTXXpFQq5ctf/nI2btyYxsbGHHLIIZk8eXKuvfbazY6bOnVqRo8enWHDhiVJTj755LbH119/fR544IFUVFRkl112yZQpU1JVVbWt3lIAeMezAwMAeMtNmjQpPXr0yA9+8IPcc889eeqpp/L1r389GzZsyPe+973ceuutqaury7XXXpsvf/nLbectXLgwl19+eWbPnp399tsvt95665u+zq9//es8+uij+f73v5+ZM2dm9913z1NPPZXPfe5zqaqqytSpU7Pffvvlm9/8Zs4777x873vfy3333Zcf//jHWbx48WuOeyPPPfdc7rjjjtxzzz2ZOXNm/uf//J95/PHH37L3CwD4x+zAAADecvPnz8+3v/3tlJWVpUuXLjnhhBNyxx135LTTTsvNN9+chx56KEuWLMmTTz6Zv/3tb23nDRgwIH369EmSfOADH8gDDzzwpq/z3/7bf0vnzp1z/PHH59BDD83QoUOz7777vua4q6++OvPnz8/NN9+cv/zlL3nxxRc3e91/pHfv3tlnn31y7LHHpqamJjU1NTn44IO3+HwA4F9nBwYA8JZrbW1NWVnZZo83bdqUv/71rznmmGOybNmyfOhDH8oFF1yw2Xk77LBD2/dlZWX/8N4U7373uzNr1qx8/vOfT+fOnXPBBRfkrrvues1xn/zkJ/PQQw/l3/7t33L22WenqqrqDZ/7lePNzc1Jkk6dOuXOO+/MlClT0qNHj0yePDnXXHPNP3wfAIC3joABALzlDj300Nx5550plUrZuHFjZsyYkUMOOSSLFy9Oz549c9ZZZ+XQQw/NT37ykyRJS0vLP/U6P/nJTzJmzJgccMABOffcc3PMMce0/UWRzp07Z9OmTVm7dm1++9vfZuzYsRkyZEj++te/5r/+67/S2tq62XFJ0rNnz7bz//SnP+Wpp55Kkjz55JMZOXJk+vfvn9NPPz1jxozJb3/723/pPQIAto5LSACAt9yECRMyadKk1NbWprm5OYcddljOOOOMtLS05O67786wYcNSVlaWAw88MD179szSpUv/qdepqanJ/PnzM3LkyOy4447Zeeed86UvfSlJctRRR2XcuHH5whe+kNNOOy3HHntsdtxxx/Tu3Tsf/OAHs3Tp0hx88MGbHXfmmWdm/Pjxbbs1qqurkyT77LNPhg8fnuOOOy477rhjdthhh0yYMOEte78AgH+srOTvhgEAAAAFZwcGAFBokydPziOPPPK6P7vkkksyaNCgbTwjAKAj2IEBAAAAFJ6beAIAAACFJ2AAAAAAhSdgAAAAAIUnYAAAAACFJ2AAAAAAhff/AYT4YqRKsL5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loanSTC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43" y="1191504"/>
            <a:ext cx="8478953" cy="44213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2865" y="5708074"/>
            <a:ext cx="102385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</a:t>
            </a:r>
            <a:r>
              <a:rPr lang="en-US" dirty="0" smtClean="0"/>
              <a:t>nivariate Analysis for </a:t>
            </a:r>
            <a:r>
              <a:rPr lang="en-US" dirty="0" err="1" smtClean="0"/>
              <a:t>loan_status</a:t>
            </a:r>
            <a:r>
              <a:rPr lang="en-US" dirty="0" smtClean="0"/>
              <a:t> variable</a:t>
            </a:r>
          </a:p>
          <a:p>
            <a:r>
              <a:rPr lang="en-US" b="1" dirty="0" smtClean="0"/>
              <a:t>~5000 </a:t>
            </a:r>
            <a:r>
              <a:rPr lang="en-US" dirty="0" smtClean="0"/>
              <a:t>loans have got “Charged Off”</a:t>
            </a:r>
          </a:p>
          <a:p>
            <a:r>
              <a:rPr lang="en-US" dirty="0" smtClean="0"/>
              <a:t>Identifying the driving variables that influence this defaulting is important for Lending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091" y="443345"/>
            <a:ext cx="7481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</a:pPr>
            <a:r>
              <a:rPr lang="en-US" sz="4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Univariate Analysis</a:t>
            </a:r>
          </a:p>
        </p:txBody>
      </p:sp>
    </p:spTree>
    <p:extLst>
      <p:ext uri="{BB962C8B-B14F-4D97-AF65-F5344CB8AC3E}">
        <p14:creationId xmlns:p14="http://schemas.microsoft.com/office/powerpoint/2010/main" xmlns="" val="1057818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Grad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271" y="967507"/>
            <a:ext cx="6816437" cy="2838609"/>
          </a:xfrm>
        </p:spPr>
      </p:pic>
      <p:pic>
        <p:nvPicPr>
          <p:cNvPr id="5" name="Picture 4" descr="SubGr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34" y="3966114"/>
            <a:ext cx="6811291" cy="28364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5091" y="967507"/>
            <a:ext cx="50569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Effect of Loan Grading</a:t>
            </a:r>
          </a:p>
          <a:p>
            <a:endParaRPr lang="en-US" dirty="0" smtClean="0"/>
          </a:p>
          <a:p>
            <a:pPr marL="111125" indent="-111125"/>
            <a:r>
              <a:rPr lang="en-US" dirty="0" smtClean="0"/>
              <a:t>Loan defaulter percentage increases with Grading</a:t>
            </a:r>
          </a:p>
          <a:p>
            <a:pPr marL="111125" indent="-111125"/>
            <a:r>
              <a:rPr lang="en-US" dirty="0" smtClean="0"/>
              <a:t>A to G </a:t>
            </a:r>
          </a:p>
          <a:p>
            <a:pPr marL="111125" indent="-111125"/>
            <a:endParaRPr lang="en-US" dirty="0" smtClean="0"/>
          </a:p>
          <a:p>
            <a:r>
              <a:rPr lang="en-US" dirty="0" smtClean="0"/>
              <a:t> Loan Grading seems to be effective measure for  estimating loan performance</a:t>
            </a:r>
          </a:p>
          <a:p>
            <a:r>
              <a:rPr lang="en-US" dirty="0" smtClean="0"/>
              <a:t>   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135091" y="3966114"/>
            <a:ext cx="48213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Similar trend seen with Sub-Grades too</a:t>
            </a:r>
          </a:p>
          <a:p>
            <a:endParaRPr lang="en-US" dirty="0" smtClean="0"/>
          </a:p>
          <a:p>
            <a:r>
              <a:rPr lang="en-US" dirty="0" smtClean="0"/>
              <a:t>Within each grade the Loan Defaulter percentage increases with sub-grade</a:t>
            </a:r>
          </a:p>
          <a:p>
            <a:endParaRPr lang="en-US" dirty="0" smtClean="0"/>
          </a:p>
          <a:p>
            <a:r>
              <a:rPr lang="en-US" dirty="0" smtClean="0"/>
              <a:t>The results for Grades and sub-Grades F and G seem to not follow similar trend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14" y="947714"/>
            <a:ext cx="5486395" cy="2727342"/>
          </a:xfrm>
          <a:prstGeom prst="rect">
            <a:avLst/>
          </a:prstGeom>
        </p:spPr>
      </p:pic>
      <p:pic>
        <p:nvPicPr>
          <p:cNvPr id="6" name="Picture 5" descr="inqLast6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5" y="3799862"/>
            <a:ext cx="7343599" cy="30581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37564" y="947714"/>
            <a:ext cx="53062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Loans with 60 months have higher Loan defaulter percentage</a:t>
            </a:r>
          </a:p>
          <a:p>
            <a:endParaRPr lang="en-US" dirty="0" smtClean="0"/>
          </a:p>
          <a:p>
            <a:r>
              <a:rPr lang="en-US" dirty="0" smtClean="0"/>
              <a:t>Clearly it is seen </a:t>
            </a:r>
            <a:r>
              <a:rPr lang="en-US" b="1" dirty="0" smtClean="0"/>
              <a:t>Long term loans are more risky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606143" y="4381772"/>
            <a:ext cx="426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Inq_last_6mnths showing increasing trend for Loan Defaulter Percentage with number of inquiries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Purpos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447473"/>
            <a:ext cx="7270868" cy="3410527"/>
          </a:xfrm>
        </p:spPr>
      </p:pic>
      <p:pic>
        <p:nvPicPr>
          <p:cNvPr id="5" name="Picture 4" descr="Verification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40" y="839716"/>
            <a:ext cx="5818909" cy="24232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45380" y="973554"/>
            <a:ext cx="51816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More number of Loan defaulters for Verified applications as against Not Verified</a:t>
            </a:r>
          </a:p>
          <a:p>
            <a:endParaRPr lang="en-US" dirty="0" smtClean="0"/>
          </a:p>
          <a:p>
            <a:r>
              <a:rPr lang="en-US" dirty="0" smtClean="0"/>
              <a:t>The verification process for the loan applications needs to be checked 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412180" y="3702900"/>
            <a:ext cx="47798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Plot of Percentage of Defaulters to Purpose of Loans</a:t>
            </a:r>
          </a:p>
          <a:p>
            <a:endParaRPr lang="en-US" dirty="0" smtClean="0"/>
          </a:p>
          <a:p>
            <a:r>
              <a:rPr lang="en-US" b="1" dirty="0" err="1" smtClean="0"/>
              <a:t>Small_business</a:t>
            </a:r>
            <a:r>
              <a:rPr lang="en-US" dirty="0" smtClean="0"/>
              <a:t> Loans have maximum defaulters – more than quarter of the loans approved are failing which calls for higher scrutiny for these loan applications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anAm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40" y="834987"/>
            <a:ext cx="6982691" cy="2907842"/>
          </a:xfrm>
          <a:prstGeom prst="rect">
            <a:avLst/>
          </a:prstGeom>
        </p:spPr>
      </p:pic>
      <p:pic>
        <p:nvPicPr>
          <p:cNvPr id="5" name="Picture 4" descr="int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94" y="3893127"/>
            <a:ext cx="6903779" cy="29044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5091" y="967507"/>
            <a:ext cx="50569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Effect of Loan </a:t>
            </a:r>
            <a:r>
              <a:rPr lang="en-US" dirty="0" smtClean="0"/>
              <a:t>Amount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Loan defaulter percentage </a:t>
            </a:r>
            <a:r>
              <a:rPr lang="en-US" b="1" dirty="0" smtClean="0"/>
              <a:t>increases with </a:t>
            </a:r>
            <a:r>
              <a:rPr lang="en-US" b="1" dirty="0" smtClean="0"/>
              <a:t>Loan Amount</a:t>
            </a:r>
          </a:p>
          <a:p>
            <a:pPr marL="111125" indent="-111125"/>
            <a:endParaRPr lang="en-US" dirty="0" smtClean="0"/>
          </a:p>
          <a:p>
            <a:r>
              <a:rPr lang="en-US" dirty="0" smtClean="0"/>
              <a:t>Higher the loan amount greater is the risk of </a:t>
            </a:r>
          </a:p>
          <a:p>
            <a:r>
              <a:rPr lang="en-US" dirty="0" smtClean="0"/>
              <a:t>d</a:t>
            </a:r>
            <a:r>
              <a:rPr lang="en-US" dirty="0" smtClean="0"/>
              <a:t>efaulting the loan</a:t>
            </a:r>
            <a:endParaRPr lang="en-US" dirty="0" smtClean="0"/>
          </a:p>
          <a:p>
            <a:r>
              <a:rPr lang="en-US" dirty="0" smtClean="0"/>
              <a:t>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5091" y="4084774"/>
            <a:ext cx="50569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Similar trend is seen with interest rate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Loan defaulter percentage </a:t>
            </a:r>
            <a:r>
              <a:rPr lang="en-US" b="1" dirty="0" smtClean="0"/>
              <a:t>increases with </a:t>
            </a:r>
            <a:r>
              <a:rPr lang="en-US" b="1" dirty="0" err="1" smtClean="0"/>
              <a:t>int_rate</a:t>
            </a:r>
            <a:endParaRPr lang="en-US" b="1" dirty="0" smtClean="0"/>
          </a:p>
          <a:p>
            <a:pPr marL="111125" indent="-111125"/>
            <a:endParaRPr lang="en-US" dirty="0" smtClean="0"/>
          </a:p>
          <a:p>
            <a:r>
              <a:rPr lang="en-US" dirty="0" smtClean="0"/>
              <a:t>Higher the </a:t>
            </a:r>
            <a:r>
              <a:rPr lang="en-US" dirty="0" err="1" smtClean="0"/>
              <a:t>int_rate</a:t>
            </a:r>
            <a:r>
              <a:rPr lang="en-US" dirty="0" smtClean="0"/>
              <a:t> greater is the risk of </a:t>
            </a:r>
          </a:p>
          <a:p>
            <a:r>
              <a:rPr lang="en-US" dirty="0" smtClean="0"/>
              <a:t>d</a:t>
            </a:r>
            <a:r>
              <a:rPr lang="en-US" dirty="0" smtClean="0"/>
              <a:t>efaulting the loan</a:t>
            </a:r>
            <a:endParaRPr lang="en-US" dirty="0" smtClean="0"/>
          </a:p>
          <a:p>
            <a:r>
              <a:rPr lang="en-US" dirty="0" smtClean="0"/>
              <a:t>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nnualIn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300" y="890407"/>
            <a:ext cx="10371110" cy="43189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58710" y="5403273"/>
            <a:ext cx="91162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There is trend in loan defaulter percentage with annual income of the applicant</a:t>
            </a:r>
          </a:p>
          <a:p>
            <a:endParaRPr lang="en-US" dirty="0" smtClean="0"/>
          </a:p>
          <a:p>
            <a:r>
              <a:rPr lang="en-US" dirty="0" smtClean="0"/>
              <a:t>Higher the annual income of the applicant lesser is the loan defaulter percentage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23" y="848843"/>
            <a:ext cx="7079673" cy="2948229"/>
          </a:xfrm>
          <a:prstGeom prst="rect">
            <a:avLst/>
          </a:prstGeom>
        </p:spPr>
      </p:pic>
      <p:pic>
        <p:nvPicPr>
          <p:cNvPr id="6" name="Picture 5" descr="revoUt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9" y="3851557"/>
            <a:ext cx="7144067" cy="29750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48946" y="1292203"/>
            <a:ext cx="50569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Effect of </a:t>
            </a:r>
            <a:r>
              <a:rPr lang="en-US" dirty="0" err="1" smtClean="0"/>
              <a:t>dti</a:t>
            </a:r>
            <a:r>
              <a:rPr lang="en-US" dirty="0" smtClean="0"/>
              <a:t> on loan defaulter percentage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Loan defaulter percentage </a:t>
            </a:r>
            <a:r>
              <a:rPr lang="en-US" b="1" dirty="0" smtClean="0"/>
              <a:t>increases with </a:t>
            </a:r>
            <a:r>
              <a:rPr lang="en-US" b="1" dirty="0" err="1" smtClean="0"/>
              <a:t>dti</a:t>
            </a:r>
            <a:endParaRPr lang="en-US" b="1" dirty="0" smtClean="0"/>
          </a:p>
          <a:p>
            <a:pPr marL="111125" indent="-111125"/>
            <a:endParaRPr lang="en-US" dirty="0" smtClean="0"/>
          </a:p>
          <a:p>
            <a:r>
              <a:rPr lang="en-US" dirty="0" smtClean="0"/>
              <a:t>Higher the debt to income ratio greater is the risk of defaulting the loan</a:t>
            </a:r>
            <a:endParaRPr lang="en-US" dirty="0" smtClean="0"/>
          </a:p>
          <a:p>
            <a:r>
              <a:rPr lang="en-US" dirty="0" smtClean="0"/>
              <a:t>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5091" y="4294917"/>
            <a:ext cx="50569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Effect of </a:t>
            </a:r>
            <a:r>
              <a:rPr lang="en-US" dirty="0" err="1" smtClean="0"/>
              <a:t>revol_util</a:t>
            </a:r>
            <a:r>
              <a:rPr lang="en-US" dirty="0" smtClean="0"/>
              <a:t> on loan defaulter percentage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Loan defaulter percentage </a:t>
            </a:r>
            <a:r>
              <a:rPr lang="en-US" b="1" dirty="0" smtClean="0"/>
              <a:t>increases with </a:t>
            </a:r>
            <a:r>
              <a:rPr lang="en-US" b="1" dirty="0" err="1" smtClean="0"/>
              <a:t>revol_util</a:t>
            </a:r>
            <a:r>
              <a:rPr lang="en-US" b="1" dirty="0" smtClean="0"/>
              <a:t> </a:t>
            </a:r>
            <a:endParaRPr lang="en-US" b="1" dirty="0" smtClean="0"/>
          </a:p>
          <a:p>
            <a:pPr marL="111125" indent="-111125"/>
            <a:endParaRPr lang="en-US" dirty="0" smtClean="0"/>
          </a:p>
          <a:p>
            <a:r>
              <a:rPr lang="en-US" dirty="0" smtClean="0"/>
              <a:t>Higher the </a:t>
            </a:r>
            <a:r>
              <a:rPr lang="en-US" dirty="0" err="1" smtClean="0"/>
              <a:t>revol_util</a:t>
            </a:r>
            <a:r>
              <a:rPr lang="en-US" dirty="0" smtClean="0"/>
              <a:t> </a:t>
            </a:r>
            <a:r>
              <a:rPr lang="en-US" dirty="0" smtClean="0"/>
              <a:t>greater is the risk of defaulting the loan</a:t>
            </a:r>
            <a:endParaRPr lang="en-US" dirty="0" smtClean="0"/>
          </a:p>
          <a:p>
            <a:r>
              <a:rPr lang="en-US" dirty="0" smtClean="0"/>
              <a:t>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/>
              <a:t>Considering the funding type analysis Spark funds has the option to invest in venture funding type considering it can invest between 5-15 million USDs</a:t>
            </a:r>
          </a:p>
          <a:p>
            <a:pPr algn="just"/>
            <a:r>
              <a:rPr lang="en-US" sz="2000" dirty="0"/>
              <a:t>From the country analysis USA seems to be most favorable country to invest.</a:t>
            </a:r>
          </a:p>
          <a:p>
            <a:pPr algn="just"/>
            <a:r>
              <a:rPr lang="en-US" sz="2000" dirty="0"/>
              <a:t>With Sector analysis, Others sector is invested the greatest number of times in all the countries for venture funding type. </a:t>
            </a:r>
          </a:p>
          <a:p>
            <a:pPr algn="just"/>
            <a:r>
              <a:rPr lang="en-US" sz="2000" dirty="0"/>
              <a:t>The second ranking sector - Social, Finance, Analytics, Advertisement is another good option as it has raised almost comparable number of investments as Others and similar trend is seen in other countries too.</a:t>
            </a:r>
          </a:p>
          <a:p>
            <a:pPr algn="just"/>
            <a:r>
              <a:rPr lang="en-US" sz="2000" dirty="0"/>
              <a:t>It will be useful to perform such analysis for </a:t>
            </a:r>
            <a:r>
              <a:rPr lang="en-US" sz="2000" dirty="0" err="1"/>
              <a:t>private_equity</a:t>
            </a:r>
            <a:r>
              <a:rPr lang="en-US" sz="2000" dirty="0"/>
              <a:t> funding type too as for the investment range of Spark funds it can invest in </a:t>
            </a:r>
            <a:r>
              <a:rPr lang="en-US" sz="2000" dirty="0" err="1"/>
              <a:t>private_equity</a:t>
            </a:r>
            <a:r>
              <a:rPr lang="en-US" sz="2000" dirty="0"/>
              <a:t> companies and its funding can remain in Inter-quartile range between 25 percentile and median of the raised amount for </a:t>
            </a:r>
            <a:r>
              <a:rPr lang="en-US" sz="2000" dirty="0" err="1"/>
              <a:t>private_equity</a:t>
            </a:r>
            <a:r>
              <a:rPr lang="en-US" sz="2000" dirty="0"/>
              <a:t>. In that case accordingly we must apply filters to the data and restricting the number of investments only in that range. </a:t>
            </a: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136469" y="640080"/>
            <a:ext cx="9313817" cy="856138"/>
          </a:xfrm>
        </p:spPr>
        <p:txBody>
          <a:bodyPr/>
          <a:lstStyle/>
          <a:p>
            <a:r>
              <a:rPr lang="en-IN" b="1" dirty="0"/>
              <a:t> </a:t>
            </a:r>
            <a:r>
              <a:rPr lang="en-IN" sz="2800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xmlns="" val="1399706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563</TotalTime>
  <Words>592</Words>
  <Application>Microsoft Office PowerPoint</Application>
  <PresentationFormat>Custom</PresentationFormat>
  <Paragraphs>87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LENDING CLUB CASE STUDY  SUBMISSION </vt:lpstr>
      <vt:lpstr>Abstract</vt:lpstr>
      <vt:lpstr>Analysis Approach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 Conclusions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Investment Case Study  Submission</dc:title>
  <dc:creator>Chiranjeev</dc:creator>
  <cp:lastModifiedBy>Windows User</cp:lastModifiedBy>
  <cp:revision>98</cp:revision>
  <cp:lastPrinted>2021-03-31T08:18:24Z</cp:lastPrinted>
  <dcterms:created xsi:type="dcterms:W3CDTF">2016-06-09T08:16:28Z</dcterms:created>
  <dcterms:modified xsi:type="dcterms:W3CDTF">2021-04-20T00:15:32Z</dcterms:modified>
</cp:coreProperties>
</file>